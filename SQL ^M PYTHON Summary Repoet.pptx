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1" r:id="rId4"/>
    <p:sldId id="262" r:id="rId5"/>
    <p:sldId id="259" r:id="rId6"/>
    <p:sldId id="263" r:id="rId7"/>
    <p:sldId id="264" r:id="rId8"/>
    <p:sldId id="270" r:id="rId9"/>
    <p:sldId id="272" r:id="rId10"/>
    <p:sldId id="267" r:id="rId11"/>
    <p:sldId id="273" r:id="rId12"/>
    <p:sldId id="274" r:id="rId13"/>
    <p:sldId id="275" r:id="rId14"/>
    <p:sldId id="276" r:id="rId15"/>
    <p:sldId id="269" r:id="rId16"/>
    <p:sldId id="281" r:id="rId17"/>
    <p:sldId id="282" r:id="rId18"/>
    <p:sldId id="283" r:id="rId19"/>
    <p:sldId id="284" r:id="rId20"/>
    <p:sldId id="278"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1618" autoAdjust="0"/>
  </p:normalViewPr>
  <p:slideViewPr>
    <p:cSldViewPr snapToGrid="0">
      <p:cViewPr varScale="1">
        <p:scale>
          <a:sx n="66" d="100"/>
          <a:sy n="66" d="100"/>
        </p:scale>
        <p:origin x="7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DD9C5C-B055-47CE-88BE-0D5958779A3F}"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86B549-8988-4935-956C-8505EFB78773}" type="slidenum">
              <a:rPr lang="en-IN" smtClean="0"/>
              <a:t>‹#›</a:t>
            </a:fld>
            <a:endParaRPr lang="en-IN"/>
          </a:p>
        </p:txBody>
      </p:sp>
    </p:spTree>
    <p:extLst>
      <p:ext uri="{BB962C8B-B14F-4D97-AF65-F5344CB8AC3E}">
        <p14:creationId xmlns:p14="http://schemas.microsoft.com/office/powerpoint/2010/main" val="2436542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6B549-8988-4935-956C-8505EFB78773}" type="slidenum">
              <a:rPr lang="en-IN" smtClean="0"/>
              <a:t>13</a:t>
            </a:fld>
            <a:endParaRPr lang="en-IN"/>
          </a:p>
        </p:txBody>
      </p:sp>
    </p:spTree>
    <p:extLst>
      <p:ext uri="{BB962C8B-B14F-4D97-AF65-F5344CB8AC3E}">
        <p14:creationId xmlns:p14="http://schemas.microsoft.com/office/powerpoint/2010/main" val="4281081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FBFDA-D9C4-2AF3-231E-AED34109D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C60725-02C0-E59E-CFAE-5542F29B9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E428C7-CF06-53AD-A530-CC9A8D38C8F3}"/>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5" name="Footer Placeholder 4">
            <a:extLst>
              <a:ext uri="{FF2B5EF4-FFF2-40B4-BE49-F238E27FC236}">
                <a16:creationId xmlns:a16="http://schemas.microsoft.com/office/drawing/2014/main" id="{5AABC121-2407-79B6-A9F4-A6C79B0C67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3ECBEB-212B-C36E-493E-B643C98C16F1}"/>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25140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57BEC-F75D-D9A0-2583-1F976A17A8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3338A0-7A2B-CEFB-FB48-1B0E81446E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5A4636-78D8-1766-114C-C9980BCD6731}"/>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5" name="Footer Placeholder 4">
            <a:extLst>
              <a:ext uri="{FF2B5EF4-FFF2-40B4-BE49-F238E27FC236}">
                <a16:creationId xmlns:a16="http://schemas.microsoft.com/office/drawing/2014/main" id="{D390940E-5A8B-F078-FDE3-4BCD6EC01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3018F4-DAB7-73DB-489E-D5F032FD10F4}"/>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539969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B3130-954D-66C7-E2EC-B73EF8B2B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792248-958D-2DC4-BFA1-F6352DC479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9060AB-ED00-CB82-EEB1-FEEC059613A6}"/>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5" name="Footer Placeholder 4">
            <a:extLst>
              <a:ext uri="{FF2B5EF4-FFF2-40B4-BE49-F238E27FC236}">
                <a16:creationId xmlns:a16="http://schemas.microsoft.com/office/drawing/2014/main" id="{3407C2D9-A8AF-7F16-7FD5-D818B36FCB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DCDE4F-1D8A-8CEB-DB9B-431809D369F0}"/>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3410879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A480-0022-FAFE-02A4-CC6DCC1D96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7B115A-13F2-C2CF-A46E-48BEFDF5A1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8B3478-496C-911A-1ED3-29ED14018F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DE09CB-A15D-ECD5-2DE3-06835D221F1A}"/>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6" name="Footer Placeholder 5">
            <a:extLst>
              <a:ext uri="{FF2B5EF4-FFF2-40B4-BE49-F238E27FC236}">
                <a16:creationId xmlns:a16="http://schemas.microsoft.com/office/drawing/2014/main" id="{E19CD8A4-D782-D511-4A94-51461CEE36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62CFF5-CBDC-9F28-8C61-A61420A453FE}"/>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283783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D549-3C4D-821D-223C-F121ED3ED4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083562-3A32-63A7-F286-79F606238D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F76FEA-A32E-D321-9280-34207FA70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66C7792-3466-CB8A-69FC-8C5078636E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D2076F-BD90-3BAA-32AA-C1D99A83B8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113872-F410-7EDA-257D-C84C64270731}"/>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8" name="Footer Placeholder 7">
            <a:extLst>
              <a:ext uri="{FF2B5EF4-FFF2-40B4-BE49-F238E27FC236}">
                <a16:creationId xmlns:a16="http://schemas.microsoft.com/office/drawing/2014/main" id="{705698C9-BCA2-5B9F-4D21-FB7F52A7B6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2CAACB-B47B-0B6E-BBED-8200DE5A7242}"/>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71919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5FE4-C644-60D9-16F9-43E2211C5F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764703-0EDA-E85B-6676-C209E1761DE7}"/>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4" name="Footer Placeholder 3">
            <a:extLst>
              <a:ext uri="{FF2B5EF4-FFF2-40B4-BE49-F238E27FC236}">
                <a16:creationId xmlns:a16="http://schemas.microsoft.com/office/drawing/2014/main" id="{8A9C52E1-7412-CFEE-2EDF-EA42C5BE47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D7A0C3-7EA5-EC9E-8EC9-B7338830C7F8}"/>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3766243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F1E2B-609C-3A6D-A521-68312D73C1F4}"/>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3" name="Footer Placeholder 2">
            <a:extLst>
              <a:ext uri="{FF2B5EF4-FFF2-40B4-BE49-F238E27FC236}">
                <a16:creationId xmlns:a16="http://schemas.microsoft.com/office/drawing/2014/main" id="{EBBB8F77-4D6E-33F8-50CF-8920A7FAC2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6ED22F0-B295-3357-EE6F-A5EC48E7B59C}"/>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461954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5EE8B-08EE-FF32-3A79-63A6A8FA99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F451B1-792C-D28C-0CDA-979A4C58E7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2FD0F3-54FC-7AD8-D301-B7F325423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AB628-869A-F695-29EE-7952803BA815}"/>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6" name="Footer Placeholder 5">
            <a:extLst>
              <a:ext uri="{FF2B5EF4-FFF2-40B4-BE49-F238E27FC236}">
                <a16:creationId xmlns:a16="http://schemas.microsoft.com/office/drawing/2014/main" id="{BD66B8C3-9E04-6206-1DAE-E81F16D93B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E5C17C-1F07-B36F-A881-55AE64D90890}"/>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3568150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2434-DCCD-1879-FB35-3FAB0B3187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3032C1-3B70-42FE-68A4-B379677F02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8A59E7-762B-A4E6-0238-00AC3BA948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27219-1F57-5504-BF3F-BBE711009F3F}"/>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6" name="Footer Placeholder 5">
            <a:extLst>
              <a:ext uri="{FF2B5EF4-FFF2-40B4-BE49-F238E27FC236}">
                <a16:creationId xmlns:a16="http://schemas.microsoft.com/office/drawing/2014/main" id="{C4EE3E8B-66D9-D635-7014-D7950E2402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E681A0-CB29-50BD-9F9F-32F22C657C45}"/>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1773895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6B31-F76B-622A-252C-A226766858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798E90-6DB7-75C1-0314-E007585222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D1C6B0-47A9-524E-5323-36BF466EDB98}"/>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5" name="Footer Placeholder 4">
            <a:extLst>
              <a:ext uri="{FF2B5EF4-FFF2-40B4-BE49-F238E27FC236}">
                <a16:creationId xmlns:a16="http://schemas.microsoft.com/office/drawing/2014/main" id="{64D5CDC9-F812-DD8B-777B-89F3961B0F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DD61EB-1BE3-346E-C7E5-A237ADA06714}"/>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3595495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DE5523-B3CC-496F-E226-57FF4FBD61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47FC82-416F-039F-148C-3A36CEA743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20855E-44B1-C502-B685-CB03A43E8539}"/>
              </a:ext>
            </a:extLst>
          </p:cNvPr>
          <p:cNvSpPr>
            <a:spLocks noGrp="1"/>
          </p:cNvSpPr>
          <p:nvPr>
            <p:ph type="dt" sz="half" idx="10"/>
          </p:nvPr>
        </p:nvSpPr>
        <p:spPr/>
        <p:txBody>
          <a:bodyPr/>
          <a:lstStyle/>
          <a:p>
            <a:fld id="{A5EAFE68-81EF-471C-ADD3-63A8752B6408}" type="datetimeFigureOut">
              <a:rPr lang="en-IN" smtClean="0"/>
              <a:t>05-03-2026</a:t>
            </a:fld>
            <a:endParaRPr lang="en-IN"/>
          </a:p>
        </p:txBody>
      </p:sp>
      <p:sp>
        <p:nvSpPr>
          <p:cNvPr id="5" name="Footer Placeholder 4">
            <a:extLst>
              <a:ext uri="{FF2B5EF4-FFF2-40B4-BE49-F238E27FC236}">
                <a16:creationId xmlns:a16="http://schemas.microsoft.com/office/drawing/2014/main" id="{7B037465-CCFB-2738-FE1C-20269B1DEC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191522-E7E2-C89F-C4E5-032F5B59A3A2}"/>
              </a:ext>
            </a:extLst>
          </p:cNvPr>
          <p:cNvSpPr>
            <a:spLocks noGrp="1"/>
          </p:cNvSpPr>
          <p:nvPr>
            <p:ph type="sldNum" sz="quarter" idx="12"/>
          </p:nvPr>
        </p:nvSpPr>
        <p:spPr/>
        <p:txBody>
          <a:bodyPr/>
          <a:lstStyle/>
          <a:p>
            <a:fld id="{B0B7B70E-1422-4429-A366-CEFBAF3E6011}" type="slidenum">
              <a:rPr lang="en-IN" smtClean="0"/>
              <a:t>‹#›</a:t>
            </a:fld>
            <a:endParaRPr lang="en-IN"/>
          </a:p>
        </p:txBody>
      </p:sp>
    </p:spTree>
    <p:extLst>
      <p:ext uri="{BB962C8B-B14F-4D97-AF65-F5344CB8AC3E}">
        <p14:creationId xmlns:p14="http://schemas.microsoft.com/office/powerpoint/2010/main" val="130561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064BB-4C76-E263-2047-33DA74B043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CF0DD1-E1CB-5255-B3F5-62B73ED48F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7E65C3-BABC-7497-407B-B4BF45F803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EAFE68-81EF-471C-ADD3-63A8752B6408}" type="datetimeFigureOut">
              <a:rPr lang="en-IN" smtClean="0"/>
              <a:t>05-03-2026</a:t>
            </a:fld>
            <a:endParaRPr lang="en-IN"/>
          </a:p>
        </p:txBody>
      </p:sp>
      <p:sp>
        <p:nvSpPr>
          <p:cNvPr id="5" name="Footer Placeholder 4">
            <a:extLst>
              <a:ext uri="{FF2B5EF4-FFF2-40B4-BE49-F238E27FC236}">
                <a16:creationId xmlns:a16="http://schemas.microsoft.com/office/drawing/2014/main" id="{76FF63D4-10B1-40D7-20A6-D0D8EDD29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FD7AF2-0E7C-0483-1907-89D60B9A89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B7B70E-1422-4429-A366-CEFBAF3E6011}" type="slidenum">
              <a:rPr lang="en-IN" smtClean="0"/>
              <a:t>‹#›</a:t>
            </a:fld>
            <a:endParaRPr lang="en-IN"/>
          </a:p>
        </p:txBody>
      </p:sp>
    </p:spTree>
    <p:extLst>
      <p:ext uri="{BB962C8B-B14F-4D97-AF65-F5344CB8AC3E}">
        <p14:creationId xmlns:p14="http://schemas.microsoft.com/office/powerpoint/2010/main" val="275747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7.xml"/><Relationship Id="rId4" Type="http://schemas.openxmlformats.org/officeDocument/2006/relationships/image" Target="../media/image5.tmp"/></Relationships>
</file>

<file path=ppt/slides/_rels/slide7.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9.tmp"/></Relationships>
</file>

<file path=ppt/slides/_rels/slide14.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image" Target="../media/image26.tmp"/><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3.tmp"/><Relationship Id="rId1" Type="http://schemas.openxmlformats.org/officeDocument/2006/relationships/slideLayout" Target="../slideLayouts/slideLayout7.xml"/><Relationship Id="rId4" Type="http://schemas.openxmlformats.org/officeDocument/2006/relationships/image" Target="../media/image29.tm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9428F-C88A-0A03-B57B-863D2573F099}"/>
              </a:ext>
            </a:extLst>
          </p:cNvPr>
          <p:cNvSpPr>
            <a:spLocks noGrp="1"/>
          </p:cNvSpPr>
          <p:nvPr>
            <p:ph type="ctrTitle"/>
          </p:nvPr>
        </p:nvSpPr>
        <p:spPr>
          <a:xfrm>
            <a:off x="339778" y="1139252"/>
            <a:ext cx="6780550" cy="2593298"/>
          </a:xfrm>
        </p:spPr>
        <p:txBody>
          <a:bodyPr>
            <a:noAutofit/>
          </a:bodyPr>
          <a:lstStyle/>
          <a:p>
            <a:pPr algn="l"/>
            <a:r>
              <a:rPr lang="en-US" sz="8000" dirty="0">
                <a:solidFill>
                  <a:schemeClr val="accent4">
                    <a:lumMod val="50000"/>
                  </a:schemeClr>
                </a:solidFill>
                <a:latin typeface="Arial Black" panose="020B0A04020102020204" pitchFamily="34" charset="0"/>
              </a:rPr>
              <a:t>Super Store Sales Report</a:t>
            </a:r>
            <a:endParaRPr lang="en-IN" sz="8000" dirty="0">
              <a:solidFill>
                <a:schemeClr val="accent4">
                  <a:lumMod val="50000"/>
                </a:schemeClr>
              </a:solidFill>
              <a:latin typeface="Arial Black" panose="020B0A04020102020204" pitchFamily="34" charset="0"/>
            </a:endParaRPr>
          </a:p>
        </p:txBody>
      </p:sp>
      <p:sp>
        <p:nvSpPr>
          <p:cNvPr id="3" name="Subtitle 2">
            <a:extLst>
              <a:ext uri="{FF2B5EF4-FFF2-40B4-BE49-F238E27FC236}">
                <a16:creationId xmlns:a16="http://schemas.microsoft.com/office/drawing/2014/main" id="{A7E05B71-D690-7DF0-0EF7-6277B7825A8A}"/>
              </a:ext>
            </a:extLst>
          </p:cNvPr>
          <p:cNvSpPr>
            <a:spLocks noGrp="1"/>
          </p:cNvSpPr>
          <p:nvPr>
            <p:ph type="subTitle" idx="1"/>
          </p:nvPr>
        </p:nvSpPr>
        <p:spPr>
          <a:xfrm>
            <a:off x="-1384092" y="4167265"/>
            <a:ext cx="9144000" cy="794480"/>
          </a:xfrm>
        </p:spPr>
        <p:txBody>
          <a:bodyPr>
            <a:normAutofit/>
          </a:bodyPr>
          <a:lstStyle/>
          <a:p>
            <a:r>
              <a:rPr lang="en-US" sz="4000" dirty="0">
                <a:latin typeface="Algerian" panose="04020705040A02060702" pitchFamily="82" charset="0"/>
              </a:rPr>
              <a:t>(Python- SQL Project)</a:t>
            </a:r>
            <a:endParaRPr lang="en-IN" sz="4000" dirty="0">
              <a:latin typeface="Algerian" panose="04020705040A02060702" pitchFamily="82" charset="0"/>
            </a:endParaRPr>
          </a:p>
        </p:txBody>
      </p:sp>
      <p:sp>
        <p:nvSpPr>
          <p:cNvPr id="4" name="TextBox 3">
            <a:extLst>
              <a:ext uri="{FF2B5EF4-FFF2-40B4-BE49-F238E27FC236}">
                <a16:creationId xmlns:a16="http://schemas.microsoft.com/office/drawing/2014/main" id="{AFC4E3B3-C392-6DC5-6A5C-E176CAE4A605}"/>
              </a:ext>
            </a:extLst>
          </p:cNvPr>
          <p:cNvSpPr txBox="1"/>
          <p:nvPr/>
        </p:nvSpPr>
        <p:spPr>
          <a:xfrm>
            <a:off x="1585685" y="4959604"/>
            <a:ext cx="2606040" cy="369332"/>
          </a:xfrm>
          <a:prstGeom prst="rect">
            <a:avLst/>
          </a:prstGeom>
          <a:noFill/>
        </p:spPr>
        <p:txBody>
          <a:bodyPr wrap="square" rtlCol="0">
            <a:spAutoFit/>
          </a:bodyPr>
          <a:lstStyle/>
          <a:p>
            <a:r>
              <a:rPr lang="en-US" dirty="0">
                <a:latin typeface="Bahnschrift SemiBold" panose="020B0502040204020203" pitchFamily="34" charset="0"/>
              </a:rPr>
              <a:t>BY SARANSH GOYAL</a:t>
            </a:r>
            <a:endParaRPr lang="en-IN" dirty="0">
              <a:latin typeface="Bahnschrift SemiBold" panose="020B0502040204020203" pitchFamily="34" charset="0"/>
            </a:endParaRPr>
          </a:p>
        </p:txBody>
      </p:sp>
    </p:spTree>
    <p:extLst>
      <p:ext uri="{BB962C8B-B14F-4D97-AF65-F5344CB8AC3E}">
        <p14:creationId xmlns:p14="http://schemas.microsoft.com/office/powerpoint/2010/main" val="628597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A9BF9F-A51C-6638-A4AB-8D2D51C3D15B}"/>
              </a:ext>
            </a:extLst>
          </p:cNvPr>
          <p:cNvSpPr>
            <a:spLocks noGrp="1"/>
          </p:cNvSpPr>
          <p:nvPr>
            <p:ph type="title" idx="4294967295"/>
          </p:nvPr>
        </p:nvSpPr>
        <p:spPr>
          <a:xfrm>
            <a:off x="2805111" y="237107"/>
            <a:ext cx="6581775" cy="2865310"/>
          </a:xfrm>
        </p:spPr>
        <p:txBody>
          <a:bodyPr>
            <a:noAutofit/>
          </a:bodyPr>
          <a:lstStyle/>
          <a:p>
            <a:r>
              <a:rPr lang="en-US" sz="8000" dirty="0">
                <a:solidFill>
                  <a:srgbClr val="FF0000"/>
                </a:solidFill>
                <a:latin typeface="Arial Black" panose="020B0A04020102020204" pitchFamily="34" charset="0"/>
              </a:rPr>
              <a:t>Basic Problem</a:t>
            </a:r>
            <a:endParaRPr lang="en-IN" sz="8000" dirty="0">
              <a:solidFill>
                <a:srgbClr val="FF0000"/>
              </a:solidFill>
              <a:latin typeface="Arial Black" panose="020B0A04020102020204" pitchFamily="34" charset="0"/>
            </a:endParaRPr>
          </a:p>
        </p:txBody>
      </p:sp>
      <p:sp>
        <p:nvSpPr>
          <p:cNvPr id="10" name="TextBox 9">
            <a:extLst>
              <a:ext uri="{FF2B5EF4-FFF2-40B4-BE49-F238E27FC236}">
                <a16:creationId xmlns:a16="http://schemas.microsoft.com/office/drawing/2014/main" id="{15075C59-4E76-0639-F3F6-54A3535E9D9A}"/>
              </a:ext>
            </a:extLst>
          </p:cNvPr>
          <p:cNvSpPr txBox="1"/>
          <p:nvPr/>
        </p:nvSpPr>
        <p:spPr>
          <a:xfrm>
            <a:off x="337624" y="3563982"/>
            <a:ext cx="5758375" cy="369332"/>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 List all unique cities where customers are located.</a:t>
            </a:r>
            <a:endParaRPr lang="en-IN" dirty="0"/>
          </a:p>
        </p:txBody>
      </p:sp>
      <p:sp>
        <p:nvSpPr>
          <p:cNvPr id="12" name="TextBox 11">
            <a:extLst>
              <a:ext uri="{FF2B5EF4-FFF2-40B4-BE49-F238E27FC236}">
                <a16:creationId xmlns:a16="http://schemas.microsoft.com/office/drawing/2014/main" id="{C5A7DE35-F773-C63B-3EAB-5A92A0D0EB2C}"/>
              </a:ext>
            </a:extLst>
          </p:cNvPr>
          <p:cNvSpPr txBox="1"/>
          <p:nvPr/>
        </p:nvSpPr>
        <p:spPr>
          <a:xfrm>
            <a:off x="337625" y="3981189"/>
            <a:ext cx="6244150" cy="369332"/>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Count the </a:t>
            </a:r>
            <a:r>
              <a:rPr lang="en-US" dirty="0"/>
              <a:t>number</a:t>
            </a:r>
            <a:r>
              <a:rPr lang="en-US" sz="1800" b="0" i="0" u="none" strike="noStrike" dirty="0">
                <a:solidFill>
                  <a:srgbClr val="26262F"/>
                </a:solidFill>
                <a:effectLst/>
                <a:latin typeface="Arial" panose="020B0604020202020204" pitchFamily="34" charset="0"/>
              </a:rPr>
              <a:t> of orders placed in 2017.</a:t>
            </a:r>
            <a:endParaRPr lang="en-IN" dirty="0"/>
          </a:p>
        </p:txBody>
      </p:sp>
      <p:sp>
        <p:nvSpPr>
          <p:cNvPr id="18" name="TextBox 17">
            <a:extLst>
              <a:ext uri="{FF2B5EF4-FFF2-40B4-BE49-F238E27FC236}">
                <a16:creationId xmlns:a16="http://schemas.microsoft.com/office/drawing/2014/main" id="{54C8D02D-8E93-7E28-727E-FF373319CDD2}"/>
              </a:ext>
            </a:extLst>
          </p:cNvPr>
          <p:cNvSpPr txBox="1"/>
          <p:nvPr/>
        </p:nvSpPr>
        <p:spPr>
          <a:xfrm>
            <a:off x="337624" y="4854386"/>
            <a:ext cx="7385539" cy="369332"/>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Calculate the percentage of orders that were paid in installments.</a:t>
            </a:r>
            <a:endParaRPr lang="en-IN" dirty="0"/>
          </a:p>
        </p:txBody>
      </p:sp>
      <p:sp>
        <p:nvSpPr>
          <p:cNvPr id="20" name="TextBox 19">
            <a:extLst>
              <a:ext uri="{FF2B5EF4-FFF2-40B4-BE49-F238E27FC236}">
                <a16:creationId xmlns:a16="http://schemas.microsoft.com/office/drawing/2014/main" id="{0E73C2B2-5CBA-D9AB-54B8-3256FEE61443}"/>
              </a:ext>
            </a:extLst>
          </p:cNvPr>
          <p:cNvSpPr txBox="1"/>
          <p:nvPr/>
        </p:nvSpPr>
        <p:spPr>
          <a:xfrm>
            <a:off x="337625" y="5341767"/>
            <a:ext cx="6358596" cy="369332"/>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Count the number of customers from each state</a:t>
            </a:r>
            <a:endParaRPr lang="en-IN" dirty="0"/>
          </a:p>
        </p:txBody>
      </p:sp>
      <p:sp>
        <p:nvSpPr>
          <p:cNvPr id="24" name="TextBox 23">
            <a:extLst>
              <a:ext uri="{FF2B5EF4-FFF2-40B4-BE49-F238E27FC236}">
                <a16:creationId xmlns:a16="http://schemas.microsoft.com/office/drawing/2014/main" id="{B9CCDEC4-74A3-7056-9974-14431D5F809B}"/>
              </a:ext>
            </a:extLst>
          </p:cNvPr>
          <p:cNvSpPr txBox="1"/>
          <p:nvPr/>
        </p:nvSpPr>
        <p:spPr>
          <a:xfrm>
            <a:off x="337625" y="4394879"/>
            <a:ext cx="6358596"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6262F"/>
                </a:solidFill>
                <a:latin typeface="Arial" panose="020B0604020202020204" pitchFamily="34" charset="0"/>
              </a:rPr>
              <a:t>Find the Total sales per category.</a:t>
            </a:r>
            <a:endParaRPr lang="en-IN" dirty="0">
              <a:solidFill>
                <a:srgbClr val="26262F"/>
              </a:solidFill>
              <a:latin typeface="Arial" panose="020B0604020202020204" pitchFamily="34" charset="0"/>
            </a:endParaRPr>
          </a:p>
        </p:txBody>
      </p:sp>
    </p:spTree>
    <p:extLst>
      <p:ext uri="{BB962C8B-B14F-4D97-AF65-F5344CB8AC3E}">
        <p14:creationId xmlns:p14="http://schemas.microsoft.com/office/powerpoint/2010/main" val="3331241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644C-46DA-F0C9-7C73-6CAEAC9420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B4CAC7-9B8F-BAE4-E7E0-AF80CBBFD8DE}"/>
              </a:ext>
            </a:extLst>
          </p:cNvPr>
          <p:cNvSpPr>
            <a:spLocks noGrp="1"/>
          </p:cNvSpPr>
          <p:nvPr>
            <p:ph type="title" idx="4294967295"/>
          </p:nvPr>
        </p:nvSpPr>
        <p:spPr>
          <a:xfrm>
            <a:off x="2518117" y="237107"/>
            <a:ext cx="7906043" cy="2639704"/>
          </a:xfrm>
        </p:spPr>
        <p:txBody>
          <a:bodyPr>
            <a:noAutofit/>
          </a:bodyPr>
          <a:lstStyle/>
          <a:p>
            <a:r>
              <a:rPr lang="en-US" sz="8000" dirty="0">
                <a:solidFill>
                  <a:srgbClr val="FF0000"/>
                </a:solidFill>
                <a:latin typeface="Arial Black" panose="020B0A04020102020204" pitchFamily="34" charset="0"/>
              </a:rPr>
              <a:t>Intermediate Problem</a:t>
            </a:r>
            <a:endParaRPr lang="en-IN" sz="8000" dirty="0">
              <a:solidFill>
                <a:srgbClr val="FF0000"/>
              </a:solidFill>
              <a:latin typeface="Arial Black" panose="020B0A04020102020204" pitchFamily="34" charset="0"/>
            </a:endParaRPr>
          </a:p>
        </p:txBody>
      </p:sp>
      <p:sp>
        <p:nvSpPr>
          <p:cNvPr id="10" name="TextBox 9">
            <a:extLst>
              <a:ext uri="{FF2B5EF4-FFF2-40B4-BE49-F238E27FC236}">
                <a16:creationId xmlns:a16="http://schemas.microsoft.com/office/drawing/2014/main" id="{061DCE35-64E3-0AEB-B500-D39EC8A3C016}"/>
              </a:ext>
            </a:extLst>
          </p:cNvPr>
          <p:cNvSpPr txBox="1"/>
          <p:nvPr/>
        </p:nvSpPr>
        <p:spPr>
          <a:xfrm>
            <a:off x="337624" y="3563982"/>
            <a:ext cx="5758375" cy="369332"/>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Calculate the number of orders per month in 2018.</a:t>
            </a:r>
            <a:endParaRPr lang="en-IN" dirty="0"/>
          </a:p>
        </p:txBody>
      </p:sp>
      <p:sp>
        <p:nvSpPr>
          <p:cNvPr id="12" name="TextBox 11">
            <a:extLst>
              <a:ext uri="{FF2B5EF4-FFF2-40B4-BE49-F238E27FC236}">
                <a16:creationId xmlns:a16="http://schemas.microsoft.com/office/drawing/2014/main" id="{892C5C3B-9E4A-0B7B-5133-EFD3BB362D4D}"/>
              </a:ext>
            </a:extLst>
          </p:cNvPr>
          <p:cNvSpPr txBox="1"/>
          <p:nvPr/>
        </p:nvSpPr>
        <p:spPr>
          <a:xfrm>
            <a:off x="337624" y="3981189"/>
            <a:ext cx="8342141" cy="369332"/>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Find the average number of products per order, grouped by customer city.</a:t>
            </a:r>
            <a:endParaRPr lang="en-IN" dirty="0"/>
          </a:p>
        </p:txBody>
      </p:sp>
      <p:sp>
        <p:nvSpPr>
          <p:cNvPr id="18" name="TextBox 17">
            <a:extLst>
              <a:ext uri="{FF2B5EF4-FFF2-40B4-BE49-F238E27FC236}">
                <a16:creationId xmlns:a16="http://schemas.microsoft.com/office/drawing/2014/main" id="{DC489591-0DDD-505F-9609-F2A8900F05BE}"/>
              </a:ext>
            </a:extLst>
          </p:cNvPr>
          <p:cNvSpPr txBox="1"/>
          <p:nvPr/>
        </p:nvSpPr>
        <p:spPr>
          <a:xfrm>
            <a:off x="337624" y="4854386"/>
            <a:ext cx="11648050" cy="369332"/>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Identify the correlation between product price and the number of times a product has been purchased.</a:t>
            </a:r>
            <a:endParaRPr lang="en-IN" dirty="0"/>
          </a:p>
        </p:txBody>
      </p:sp>
      <p:sp>
        <p:nvSpPr>
          <p:cNvPr id="20" name="TextBox 19">
            <a:extLst>
              <a:ext uri="{FF2B5EF4-FFF2-40B4-BE49-F238E27FC236}">
                <a16:creationId xmlns:a16="http://schemas.microsoft.com/office/drawing/2014/main" id="{9D7DC974-8579-036E-3168-A82D7A0BB854}"/>
              </a:ext>
            </a:extLst>
          </p:cNvPr>
          <p:cNvSpPr txBox="1"/>
          <p:nvPr/>
        </p:nvSpPr>
        <p:spPr>
          <a:xfrm>
            <a:off x="337625" y="5341767"/>
            <a:ext cx="10775852" cy="369332"/>
          </a:xfrm>
          <a:prstGeom prst="rect">
            <a:avLst/>
          </a:prstGeom>
          <a:noFill/>
        </p:spPr>
        <p:txBody>
          <a:bodyPr wrap="square">
            <a:spAutoFit/>
          </a:bodyPr>
          <a:lstStyle/>
          <a:p>
            <a:pPr marL="285750" indent="-285750">
              <a:buFont typeface="Arial" panose="020B0604020202020204" pitchFamily="34" charset="0"/>
              <a:buChar char="•"/>
            </a:pPr>
            <a:r>
              <a:rPr lang="en-IN" sz="1800" b="0" i="0" u="none" strike="noStrike" dirty="0">
                <a:solidFill>
                  <a:srgbClr val="26262F"/>
                </a:solidFill>
                <a:effectLst/>
                <a:latin typeface="Arial" panose="020B0604020202020204" pitchFamily="34" charset="0"/>
              </a:rPr>
              <a:t> Calculate the total </a:t>
            </a:r>
            <a:r>
              <a:rPr lang="en-US" sz="1800" b="0" i="0" u="none" strike="noStrike" dirty="0">
                <a:solidFill>
                  <a:srgbClr val="26262F"/>
                </a:solidFill>
                <a:effectLst/>
                <a:latin typeface="Arial" panose="020B0604020202020204" pitchFamily="34" charset="0"/>
              </a:rPr>
              <a:t>revenue generated by each seller, and rank them by revenue.</a:t>
            </a:r>
            <a:endParaRPr lang="en-IN" dirty="0"/>
          </a:p>
        </p:txBody>
      </p:sp>
      <p:sp>
        <p:nvSpPr>
          <p:cNvPr id="24" name="TextBox 23">
            <a:extLst>
              <a:ext uri="{FF2B5EF4-FFF2-40B4-BE49-F238E27FC236}">
                <a16:creationId xmlns:a16="http://schemas.microsoft.com/office/drawing/2014/main" id="{1CE255B3-BED7-CD26-6F66-7FB9DEF276C6}"/>
              </a:ext>
            </a:extLst>
          </p:cNvPr>
          <p:cNvSpPr txBox="1"/>
          <p:nvPr/>
        </p:nvSpPr>
        <p:spPr>
          <a:xfrm>
            <a:off x="337625" y="4394879"/>
            <a:ext cx="9214338" cy="369332"/>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Calculate the percentage of total revenue contributed by each product category.</a:t>
            </a:r>
            <a:endParaRPr lang="en-IN" dirty="0">
              <a:solidFill>
                <a:srgbClr val="26262F"/>
              </a:solidFill>
              <a:latin typeface="Arial" panose="020B0604020202020204" pitchFamily="34" charset="0"/>
            </a:endParaRPr>
          </a:p>
        </p:txBody>
      </p:sp>
    </p:spTree>
    <p:extLst>
      <p:ext uri="{BB962C8B-B14F-4D97-AF65-F5344CB8AC3E}">
        <p14:creationId xmlns:p14="http://schemas.microsoft.com/office/powerpoint/2010/main" val="2183720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68E38-E127-21F6-D0AF-6E69CAE594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942E9C-433E-DC16-D73C-42B2830DF867}"/>
              </a:ext>
            </a:extLst>
          </p:cNvPr>
          <p:cNvSpPr>
            <a:spLocks noGrp="1"/>
          </p:cNvSpPr>
          <p:nvPr>
            <p:ph type="title" idx="4294967295"/>
          </p:nvPr>
        </p:nvSpPr>
        <p:spPr>
          <a:xfrm>
            <a:off x="2518117" y="237107"/>
            <a:ext cx="7906043" cy="2639704"/>
          </a:xfrm>
        </p:spPr>
        <p:txBody>
          <a:bodyPr>
            <a:noAutofit/>
          </a:bodyPr>
          <a:lstStyle/>
          <a:p>
            <a:r>
              <a:rPr lang="en-US" sz="8000" dirty="0">
                <a:solidFill>
                  <a:srgbClr val="FF0000"/>
                </a:solidFill>
                <a:latin typeface="Arial Black" panose="020B0A04020102020204" pitchFamily="34" charset="0"/>
              </a:rPr>
              <a:t>Advanced Problem</a:t>
            </a:r>
            <a:endParaRPr lang="en-IN" sz="8000" dirty="0">
              <a:solidFill>
                <a:srgbClr val="FF0000"/>
              </a:solidFill>
              <a:latin typeface="Arial Black" panose="020B0A04020102020204" pitchFamily="34" charset="0"/>
            </a:endParaRPr>
          </a:p>
        </p:txBody>
      </p:sp>
      <p:sp>
        <p:nvSpPr>
          <p:cNvPr id="10" name="TextBox 9">
            <a:extLst>
              <a:ext uri="{FF2B5EF4-FFF2-40B4-BE49-F238E27FC236}">
                <a16:creationId xmlns:a16="http://schemas.microsoft.com/office/drawing/2014/main" id="{23667E84-9A46-6208-C985-FE60CACBBDFA}"/>
              </a:ext>
            </a:extLst>
          </p:cNvPr>
          <p:cNvSpPr txBox="1"/>
          <p:nvPr/>
        </p:nvSpPr>
        <p:spPr>
          <a:xfrm>
            <a:off x="337624" y="3563982"/>
            <a:ext cx="10380343" cy="369332"/>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Calculate the moving average of order values for each customer over their order history. </a:t>
            </a:r>
            <a:endParaRPr lang="en-IN" dirty="0"/>
          </a:p>
        </p:txBody>
      </p:sp>
      <p:sp>
        <p:nvSpPr>
          <p:cNvPr id="12" name="TextBox 11">
            <a:extLst>
              <a:ext uri="{FF2B5EF4-FFF2-40B4-BE49-F238E27FC236}">
                <a16:creationId xmlns:a16="http://schemas.microsoft.com/office/drawing/2014/main" id="{10501BA2-302B-DAF1-A661-F1710D25F91C}"/>
              </a:ext>
            </a:extLst>
          </p:cNvPr>
          <p:cNvSpPr txBox="1"/>
          <p:nvPr/>
        </p:nvSpPr>
        <p:spPr>
          <a:xfrm>
            <a:off x="337624" y="3981189"/>
            <a:ext cx="8342141" cy="369332"/>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Calculate the cumulative sales per month for each year. </a:t>
            </a:r>
            <a:endParaRPr lang="en-IN" dirty="0"/>
          </a:p>
        </p:txBody>
      </p:sp>
      <p:sp>
        <p:nvSpPr>
          <p:cNvPr id="18" name="TextBox 17">
            <a:extLst>
              <a:ext uri="{FF2B5EF4-FFF2-40B4-BE49-F238E27FC236}">
                <a16:creationId xmlns:a16="http://schemas.microsoft.com/office/drawing/2014/main" id="{20AF1206-823D-CCFF-09D8-5629A56E7EA6}"/>
              </a:ext>
            </a:extLst>
          </p:cNvPr>
          <p:cNvSpPr txBox="1"/>
          <p:nvPr/>
        </p:nvSpPr>
        <p:spPr>
          <a:xfrm>
            <a:off x="337624" y="4854386"/>
            <a:ext cx="10964960" cy="646331"/>
          </a:xfrm>
          <a:prstGeom prst="rect">
            <a:avLst/>
          </a:prstGeom>
          <a:noFill/>
        </p:spPr>
        <p:txBody>
          <a:bodyPr wrap="square">
            <a:spAutoFit/>
          </a:bodyPr>
          <a:lstStyle/>
          <a:p>
            <a:pPr marL="285750" indent="-285750">
              <a:buFont typeface="Arial" panose="020B0604020202020204" pitchFamily="34" charset="0"/>
              <a:buChar char="•"/>
            </a:pPr>
            <a:r>
              <a:rPr lang="en-IN" sz="1800" b="0" i="0" u="none" strike="noStrike" dirty="0">
                <a:solidFill>
                  <a:srgbClr val="26262F"/>
                </a:solidFill>
                <a:effectLst/>
                <a:latin typeface="Arial" panose="020B0604020202020204" pitchFamily="34" charset="0"/>
              </a:rPr>
              <a:t>Calculate the retention </a:t>
            </a:r>
            <a:r>
              <a:rPr lang="en-US" sz="1800" b="0" i="0" u="none" strike="noStrike" dirty="0">
                <a:solidFill>
                  <a:srgbClr val="26262F"/>
                </a:solidFill>
                <a:effectLst/>
                <a:latin typeface="Arial" panose="020B0604020202020204" pitchFamily="34" charset="0"/>
              </a:rPr>
              <a:t>rate of customers, defined as the percentage of customers who make another purchase within 6 months of their first purchase. </a:t>
            </a:r>
            <a:endParaRPr lang="en-IN" dirty="0"/>
          </a:p>
        </p:txBody>
      </p:sp>
      <p:sp>
        <p:nvSpPr>
          <p:cNvPr id="20" name="TextBox 19">
            <a:extLst>
              <a:ext uri="{FF2B5EF4-FFF2-40B4-BE49-F238E27FC236}">
                <a16:creationId xmlns:a16="http://schemas.microsoft.com/office/drawing/2014/main" id="{E6FBD0D9-4184-33D8-9705-33B5A56628D7}"/>
              </a:ext>
            </a:extLst>
          </p:cNvPr>
          <p:cNvSpPr txBox="1"/>
          <p:nvPr/>
        </p:nvSpPr>
        <p:spPr>
          <a:xfrm>
            <a:off x="337624" y="5590892"/>
            <a:ext cx="14247806" cy="646331"/>
          </a:xfrm>
          <a:prstGeom prst="rect">
            <a:avLst/>
          </a:prstGeom>
          <a:noFill/>
        </p:spPr>
        <p:txBody>
          <a:bodyPr wrap="square">
            <a:spAutoFit/>
          </a:bodyPr>
          <a:lstStyle/>
          <a:p>
            <a:pPr marL="291046" marR="6256833" indent="-285750" rtl="0">
              <a:spcBef>
                <a:spcPts val="145"/>
              </a:spcBef>
              <a:buFont typeface="Arial" panose="020B0604020202020204" pitchFamily="34" charset="0"/>
              <a:buChar char="•"/>
            </a:pPr>
            <a:r>
              <a:rPr lang="en-US" sz="1800" b="0" i="0" u="none" strike="noStrike" dirty="0">
                <a:solidFill>
                  <a:srgbClr val="26262F"/>
                </a:solidFill>
                <a:effectLst/>
                <a:latin typeface="Arial" panose="020B0604020202020204" pitchFamily="34" charset="0"/>
              </a:rPr>
              <a:t>Identify the top 3 customers who spent the most money in each year.</a:t>
            </a:r>
            <a:br>
              <a:rPr lang="en-US" dirty="0"/>
            </a:br>
            <a:endParaRPr lang="en-IN" dirty="0"/>
          </a:p>
        </p:txBody>
      </p:sp>
      <p:sp>
        <p:nvSpPr>
          <p:cNvPr id="24" name="TextBox 23">
            <a:extLst>
              <a:ext uri="{FF2B5EF4-FFF2-40B4-BE49-F238E27FC236}">
                <a16:creationId xmlns:a16="http://schemas.microsoft.com/office/drawing/2014/main" id="{64865343-CF39-0E7C-0B0C-E5CFE55C13A1}"/>
              </a:ext>
            </a:extLst>
          </p:cNvPr>
          <p:cNvSpPr txBox="1"/>
          <p:nvPr/>
        </p:nvSpPr>
        <p:spPr>
          <a:xfrm>
            <a:off x="337625" y="4394879"/>
            <a:ext cx="9214338" cy="369332"/>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dirty="0">
                <a:solidFill>
                  <a:srgbClr val="26262F"/>
                </a:solidFill>
                <a:effectLst/>
                <a:latin typeface="Arial" panose="020B0604020202020204" pitchFamily="34" charset="0"/>
              </a:rPr>
              <a:t>Calculate the year-over-year growth rate of total sales.</a:t>
            </a:r>
            <a:endParaRPr lang="en-IN" dirty="0">
              <a:solidFill>
                <a:srgbClr val="26262F"/>
              </a:solidFill>
              <a:latin typeface="Arial" panose="020B0604020202020204" pitchFamily="34" charset="0"/>
            </a:endParaRPr>
          </a:p>
        </p:txBody>
      </p:sp>
    </p:spTree>
    <p:extLst>
      <p:ext uri="{BB962C8B-B14F-4D97-AF65-F5344CB8AC3E}">
        <p14:creationId xmlns:p14="http://schemas.microsoft.com/office/powerpoint/2010/main" val="2249532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D377F6-5AEC-522A-4369-D35EB71C5E78}"/>
              </a:ext>
            </a:extLst>
          </p:cNvPr>
          <p:cNvSpPr txBox="1"/>
          <p:nvPr/>
        </p:nvSpPr>
        <p:spPr>
          <a:xfrm>
            <a:off x="333532" y="0"/>
            <a:ext cx="60935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Basic Problem</a:t>
            </a:r>
            <a:endParaRPr lang="en-IN" dirty="0"/>
          </a:p>
        </p:txBody>
      </p:sp>
      <p:sp>
        <p:nvSpPr>
          <p:cNvPr id="6" name="TextBox 5">
            <a:extLst>
              <a:ext uri="{FF2B5EF4-FFF2-40B4-BE49-F238E27FC236}">
                <a16:creationId xmlns:a16="http://schemas.microsoft.com/office/drawing/2014/main" id="{57B86245-DB87-33BC-F095-A99AB5D84596}"/>
              </a:ext>
            </a:extLst>
          </p:cNvPr>
          <p:cNvSpPr txBox="1"/>
          <p:nvPr/>
        </p:nvSpPr>
        <p:spPr>
          <a:xfrm>
            <a:off x="1128009" y="659567"/>
            <a:ext cx="6610663" cy="677108"/>
          </a:xfrm>
          <a:prstGeom prst="rect">
            <a:avLst/>
          </a:prstGeom>
          <a:noFill/>
        </p:spPr>
        <p:txBody>
          <a:bodyPr wrap="square" rtlCol="0">
            <a:spAutoFit/>
          </a:bodyPr>
          <a:lstStyle/>
          <a:p>
            <a:r>
              <a:rPr lang="en-US" sz="2000" b="0" i="0" u="none" strike="noStrike" dirty="0">
                <a:solidFill>
                  <a:srgbClr val="26262F"/>
                </a:solidFill>
                <a:effectLst/>
                <a:latin typeface="Arial" panose="020B0604020202020204" pitchFamily="34" charset="0"/>
              </a:rPr>
              <a:t> List all unique cities where customers are located.</a:t>
            </a:r>
            <a:endParaRPr lang="en-IN" sz="2000" dirty="0"/>
          </a:p>
          <a:p>
            <a:endParaRPr lang="en-IN" dirty="0"/>
          </a:p>
        </p:txBody>
      </p:sp>
      <p:sp>
        <p:nvSpPr>
          <p:cNvPr id="7" name="TextBox 6">
            <a:extLst>
              <a:ext uri="{FF2B5EF4-FFF2-40B4-BE49-F238E27FC236}">
                <a16:creationId xmlns:a16="http://schemas.microsoft.com/office/drawing/2014/main" id="{1F2DD646-2E47-AD11-48DC-0EAC67C8A076}"/>
              </a:ext>
            </a:extLst>
          </p:cNvPr>
          <p:cNvSpPr txBox="1"/>
          <p:nvPr/>
        </p:nvSpPr>
        <p:spPr>
          <a:xfrm>
            <a:off x="333532" y="659567"/>
            <a:ext cx="1060553" cy="400110"/>
          </a:xfrm>
          <a:prstGeom prst="rect">
            <a:avLst/>
          </a:prstGeom>
          <a:noFill/>
        </p:spPr>
        <p:txBody>
          <a:bodyPr wrap="square" rtlCol="0">
            <a:spAutoFit/>
          </a:bodyPr>
          <a:lstStyle/>
          <a:p>
            <a:r>
              <a:rPr lang="en-US" sz="2000" dirty="0">
                <a:solidFill>
                  <a:srgbClr val="26262F"/>
                </a:solidFill>
                <a:latin typeface="Arial" panose="020B0604020202020204" pitchFamily="34" charset="0"/>
              </a:rPr>
              <a:t>Ques-</a:t>
            </a:r>
            <a:endParaRPr lang="en-IN" sz="2000" dirty="0">
              <a:solidFill>
                <a:srgbClr val="26262F"/>
              </a:solidFill>
              <a:latin typeface="Arial" panose="020B0604020202020204" pitchFamily="34" charset="0"/>
            </a:endParaRPr>
          </a:p>
        </p:txBody>
      </p:sp>
      <p:pic>
        <p:nvPicPr>
          <p:cNvPr id="14" name="Picture 13">
            <a:extLst>
              <a:ext uri="{FF2B5EF4-FFF2-40B4-BE49-F238E27FC236}">
                <a16:creationId xmlns:a16="http://schemas.microsoft.com/office/drawing/2014/main" id="{5A23C672-C092-A105-2141-64D8337788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4910" y="1120843"/>
            <a:ext cx="4167147" cy="3128643"/>
          </a:xfrm>
          <a:prstGeom prst="rect">
            <a:avLst/>
          </a:prstGeom>
        </p:spPr>
      </p:pic>
      <p:pic>
        <p:nvPicPr>
          <p:cNvPr id="18" name="Picture 17">
            <a:extLst>
              <a:ext uri="{FF2B5EF4-FFF2-40B4-BE49-F238E27FC236}">
                <a16:creationId xmlns:a16="http://schemas.microsoft.com/office/drawing/2014/main" id="{F58D77FB-5667-C25D-1336-9A7D673FF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49488"/>
            <a:ext cx="6427032" cy="2608511"/>
          </a:xfrm>
          <a:prstGeom prst="rect">
            <a:avLst/>
          </a:prstGeom>
        </p:spPr>
      </p:pic>
      <p:sp>
        <p:nvSpPr>
          <p:cNvPr id="4" name="Rectangle 3">
            <a:extLst>
              <a:ext uri="{FF2B5EF4-FFF2-40B4-BE49-F238E27FC236}">
                <a16:creationId xmlns:a16="http://schemas.microsoft.com/office/drawing/2014/main" id="{ECD73F3E-445C-18EC-A2F8-936A78E7F33A}"/>
              </a:ext>
            </a:extLst>
          </p:cNvPr>
          <p:cNvSpPr/>
          <p:nvPr/>
        </p:nvSpPr>
        <p:spPr>
          <a:xfrm>
            <a:off x="863808" y="1626909"/>
            <a:ext cx="5563224" cy="1932233"/>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p>
          <a:p>
            <a:r>
              <a:rPr lang="en-US" sz="1200" dirty="0" err="1">
                <a:solidFill>
                  <a:srgbClr val="00B0F0"/>
                </a:solidFill>
              </a:rPr>
              <a:t>customer_city</a:t>
            </a:r>
            <a:r>
              <a:rPr lang="en-US" sz="1200" dirty="0">
                <a:solidFill>
                  <a:srgbClr val="00B0F0"/>
                </a:solidFill>
              </a:rPr>
              <a:t> as Top10_city</a:t>
            </a:r>
          </a:p>
          <a:p>
            <a:r>
              <a:rPr lang="en-US" sz="1200" dirty="0">
                <a:solidFill>
                  <a:srgbClr val="00B0F0"/>
                </a:solidFill>
              </a:rPr>
              <a:t>FROM    customers </a:t>
            </a:r>
          </a:p>
          <a:p>
            <a:r>
              <a:rPr lang="en-US" sz="1200" dirty="0">
                <a:solidFill>
                  <a:srgbClr val="00B0F0"/>
                </a:solidFill>
              </a:rPr>
              <a:t>group by </a:t>
            </a:r>
            <a:r>
              <a:rPr lang="en-US" sz="1200" dirty="0" err="1">
                <a:solidFill>
                  <a:srgbClr val="00B0F0"/>
                </a:solidFill>
              </a:rPr>
              <a:t>customer_city</a:t>
            </a:r>
            <a:r>
              <a:rPr lang="en-US" sz="1200" dirty="0">
                <a:solidFill>
                  <a:srgbClr val="00B0F0"/>
                </a:solidFill>
              </a:rPr>
              <a:t> </a:t>
            </a:r>
          </a:p>
          <a:p>
            <a:r>
              <a:rPr lang="en-US" sz="1200" dirty="0">
                <a:solidFill>
                  <a:srgbClr val="00B0F0"/>
                </a:solidFill>
              </a:rPr>
              <a:t>order by count(</a:t>
            </a:r>
            <a:r>
              <a:rPr lang="en-US" sz="1200" dirty="0" err="1">
                <a:solidFill>
                  <a:srgbClr val="00B0F0"/>
                </a:solidFill>
              </a:rPr>
              <a:t>customer_city</a:t>
            </a:r>
            <a:r>
              <a:rPr lang="en-US" sz="1200" dirty="0">
                <a:solidFill>
                  <a:srgbClr val="00B0F0"/>
                </a:solidFill>
              </a:rPr>
              <a:t>) desc limit 10</a:t>
            </a:r>
            <a:endParaRPr lang="en-IN" sz="1200" dirty="0">
              <a:solidFill>
                <a:srgbClr val="00B0F0"/>
              </a:solidFill>
            </a:endParaRPr>
          </a:p>
        </p:txBody>
      </p:sp>
      <p:sp>
        <p:nvSpPr>
          <p:cNvPr id="8" name="Rectangle 7">
            <a:extLst>
              <a:ext uri="{FF2B5EF4-FFF2-40B4-BE49-F238E27FC236}">
                <a16:creationId xmlns:a16="http://schemas.microsoft.com/office/drawing/2014/main" id="{30599B14-0E84-6AA5-BAD6-F87C66CE1CBC}"/>
              </a:ext>
            </a:extLst>
          </p:cNvPr>
          <p:cNvSpPr/>
          <p:nvPr/>
        </p:nvSpPr>
        <p:spPr>
          <a:xfrm>
            <a:off x="6628776" y="4249487"/>
            <a:ext cx="5113281" cy="2608511"/>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IN" sz="1200" dirty="0">
                <a:solidFill>
                  <a:srgbClr val="00B0F0"/>
                </a:solidFill>
              </a:rPr>
              <a:t>x=top10_city['index']</a:t>
            </a:r>
          </a:p>
          <a:p>
            <a:r>
              <a:rPr lang="en-IN" sz="1200" dirty="0">
                <a:solidFill>
                  <a:srgbClr val="00B0F0"/>
                </a:solidFill>
              </a:rPr>
              <a:t>y=top10_city['</a:t>
            </a:r>
            <a:r>
              <a:rPr lang="en-IN" sz="1200" dirty="0" err="1">
                <a:solidFill>
                  <a:srgbClr val="00B0F0"/>
                </a:solidFill>
              </a:rPr>
              <a:t>total_customers</a:t>
            </a:r>
            <a:r>
              <a:rPr lang="en-IN" sz="1200" dirty="0">
                <a:solidFill>
                  <a:srgbClr val="00B0F0"/>
                </a:solidFill>
              </a:rPr>
              <a:t>']</a:t>
            </a:r>
          </a:p>
          <a:p>
            <a:r>
              <a:rPr lang="en-IN" sz="1200" dirty="0" err="1">
                <a:solidFill>
                  <a:srgbClr val="00B0F0"/>
                </a:solidFill>
              </a:rPr>
              <a:t>plt.figure</a:t>
            </a:r>
            <a:r>
              <a:rPr lang="en-IN" sz="1200" dirty="0">
                <a:solidFill>
                  <a:srgbClr val="00B0F0"/>
                </a:solidFill>
              </a:rPr>
              <a:t>(</a:t>
            </a:r>
            <a:r>
              <a:rPr lang="en-IN" sz="1200" dirty="0" err="1">
                <a:solidFill>
                  <a:srgbClr val="00B0F0"/>
                </a:solidFill>
              </a:rPr>
              <a:t>figsize</a:t>
            </a:r>
            <a:r>
              <a:rPr lang="en-IN" sz="1200" dirty="0">
                <a:solidFill>
                  <a:srgbClr val="00B0F0"/>
                </a:solidFill>
              </a:rPr>
              <a:t>=(5,3))</a:t>
            </a:r>
          </a:p>
          <a:p>
            <a:r>
              <a:rPr lang="en-IN" sz="1200" dirty="0" err="1">
                <a:solidFill>
                  <a:srgbClr val="00B0F0"/>
                </a:solidFill>
              </a:rPr>
              <a:t>plt.bar</a:t>
            </a:r>
            <a:r>
              <a:rPr lang="en-IN" sz="1200" dirty="0">
                <a:solidFill>
                  <a:srgbClr val="00B0F0"/>
                </a:solidFill>
              </a:rPr>
              <a:t>(</a:t>
            </a:r>
            <a:r>
              <a:rPr lang="en-IN" sz="1200" dirty="0" err="1">
                <a:solidFill>
                  <a:srgbClr val="00B0F0"/>
                </a:solidFill>
              </a:rPr>
              <a:t>x,y,color</a:t>
            </a:r>
            <a:r>
              <a:rPr lang="en-IN" sz="1200" dirty="0">
                <a:solidFill>
                  <a:srgbClr val="00B0F0"/>
                </a:solidFill>
              </a:rPr>
              <a:t>='g')</a:t>
            </a:r>
          </a:p>
          <a:p>
            <a:r>
              <a:rPr lang="en-IN" sz="1200" dirty="0" err="1">
                <a:solidFill>
                  <a:srgbClr val="00B0F0"/>
                </a:solidFill>
              </a:rPr>
              <a:t>plt.title</a:t>
            </a:r>
            <a:r>
              <a:rPr lang="en-IN" sz="1200" dirty="0">
                <a:solidFill>
                  <a:srgbClr val="00B0F0"/>
                </a:solidFill>
              </a:rPr>
              <a:t>('Top10_city')</a:t>
            </a:r>
          </a:p>
          <a:p>
            <a:r>
              <a:rPr lang="en-IN" sz="1200" dirty="0" err="1">
                <a:solidFill>
                  <a:srgbClr val="00B0F0"/>
                </a:solidFill>
              </a:rPr>
              <a:t>plt.xlabel</a:t>
            </a:r>
            <a:r>
              <a:rPr lang="en-IN" sz="1200" dirty="0">
                <a:solidFill>
                  <a:srgbClr val="00B0F0"/>
                </a:solidFill>
              </a:rPr>
              <a:t>('city')</a:t>
            </a:r>
          </a:p>
          <a:p>
            <a:r>
              <a:rPr lang="en-IN" sz="1200" dirty="0" err="1">
                <a:solidFill>
                  <a:srgbClr val="00B0F0"/>
                </a:solidFill>
              </a:rPr>
              <a:t>plt.ylabel</a:t>
            </a:r>
            <a:r>
              <a:rPr lang="en-IN" sz="1200" dirty="0">
                <a:solidFill>
                  <a:srgbClr val="00B0F0"/>
                </a:solidFill>
              </a:rPr>
              <a:t>('</a:t>
            </a:r>
            <a:r>
              <a:rPr lang="en-IN" sz="1200" dirty="0" err="1">
                <a:solidFill>
                  <a:srgbClr val="00B0F0"/>
                </a:solidFill>
              </a:rPr>
              <a:t>Total_customer</a:t>
            </a:r>
            <a:r>
              <a:rPr lang="en-IN" sz="1200" dirty="0">
                <a:solidFill>
                  <a:srgbClr val="00B0F0"/>
                </a:solidFill>
              </a:rPr>
              <a:t>')</a:t>
            </a:r>
          </a:p>
          <a:p>
            <a:r>
              <a:rPr lang="en-IN" sz="1200" dirty="0" err="1">
                <a:solidFill>
                  <a:srgbClr val="00B0F0"/>
                </a:solidFill>
              </a:rPr>
              <a:t>plt.xticks</a:t>
            </a:r>
            <a:r>
              <a:rPr lang="en-IN" sz="1200" dirty="0">
                <a:solidFill>
                  <a:srgbClr val="00B0F0"/>
                </a:solidFill>
              </a:rPr>
              <a:t>(rotation=45)</a:t>
            </a:r>
          </a:p>
          <a:p>
            <a:endParaRPr lang="en-IN" sz="1200" dirty="0">
              <a:solidFill>
                <a:srgbClr val="00B0F0"/>
              </a:solidFill>
            </a:endParaRPr>
          </a:p>
          <a:p>
            <a:r>
              <a:rPr lang="en-IN" sz="1200" dirty="0" err="1">
                <a:solidFill>
                  <a:srgbClr val="00B0F0"/>
                </a:solidFill>
              </a:rPr>
              <a:t>plt.show</a:t>
            </a:r>
            <a:r>
              <a:rPr lang="en-IN" sz="1200" dirty="0">
                <a:solidFill>
                  <a:srgbClr val="00B0F0"/>
                </a:solidFill>
              </a:rPr>
              <a:t>()</a:t>
            </a:r>
          </a:p>
        </p:txBody>
      </p:sp>
    </p:spTree>
    <p:extLst>
      <p:ext uri="{BB962C8B-B14F-4D97-AF65-F5344CB8AC3E}">
        <p14:creationId xmlns:p14="http://schemas.microsoft.com/office/powerpoint/2010/main" val="3495441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3AB83D-E9BA-E086-A6E3-EB4B0FF6F340}"/>
              </a:ext>
            </a:extLst>
          </p:cNvPr>
          <p:cNvSpPr txBox="1"/>
          <p:nvPr/>
        </p:nvSpPr>
        <p:spPr>
          <a:xfrm>
            <a:off x="1397832" y="752218"/>
            <a:ext cx="609350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Count the </a:t>
            </a:r>
            <a:r>
              <a:rPr lang="en-US" dirty="0"/>
              <a:t>number</a:t>
            </a:r>
            <a:r>
              <a:rPr lang="en-US" sz="1800" b="0" i="0" u="none" strike="noStrike" dirty="0">
                <a:solidFill>
                  <a:srgbClr val="26262F"/>
                </a:solidFill>
                <a:effectLst/>
                <a:latin typeface="Arial" panose="020B0604020202020204" pitchFamily="34" charset="0"/>
              </a:rPr>
              <a:t> of orders placed in 2017.</a:t>
            </a:r>
            <a:endParaRPr lang="en-IN" dirty="0"/>
          </a:p>
        </p:txBody>
      </p:sp>
      <p:sp>
        <p:nvSpPr>
          <p:cNvPr id="6" name="TextBox 5">
            <a:extLst>
              <a:ext uri="{FF2B5EF4-FFF2-40B4-BE49-F238E27FC236}">
                <a16:creationId xmlns:a16="http://schemas.microsoft.com/office/drawing/2014/main" id="{5D67E042-FDA9-68C8-99B0-C9357821AAC5}"/>
              </a:ext>
            </a:extLst>
          </p:cNvPr>
          <p:cNvSpPr txBox="1"/>
          <p:nvPr/>
        </p:nvSpPr>
        <p:spPr>
          <a:xfrm>
            <a:off x="708286" y="752218"/>
            <a:ext cx="850692"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10" name="Picture 9">
            <a:extLst>
              <a:ext uri="{FF2B5EF4-FFF2-40B4-BE49-F238E27FC236}">
                <a16:creationId xmlns:a16="http://schemas.microsoft.com/office/drawing/2014/main" id="{DB59661A-4E9F-D8D0-9CC5-0E93300E8625}"/>
              </a:ext>
            </a:extLst>
          </p:cNvPr>
          <p:cNvPicPr>
            <a:picLocks noChangeAspect="1"/>
          </p:cNvPicPr>
          <p:nvPr/>
        </p:nvPicPr>
        <p:blipFill>
          <a:blip r:embed="rId2"/>
          <a:stretch>
            <a:fillRect/>
          </a:stretch>
        </p:blipFill>
        <p:spPr>
          <a:xfrm>
            <a:off x="6091237" y="3424237"/>
            <a:ext cx="9526" cy="9526"/>
          </a:xfrm>
          <a:prstGeom prst="rect">
            <a:avLst/>
          </a:prstGeom>
        </p:spPr>
      </p:pic>
      <p:pic>
        <p:nvPicPr>
          <p:cNvPr id="3" name="Picture 2">
            <a:extLst>
              <a:ext uri="{FF2B5EF4-FFF2-40B4-BE49-F238E27FC236}">
                <a16:creationId xmlns:a16="http://schemas.microsoft.com/office/drawing/2014/main" id="{9CCFDE1E-6CE2-EF71-1C50-3C004EBF46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6411" y="1915140"/>
            <a:ext cx="1995491" cy="1089317"/>
          </a:xfrm>
          <a:prstGeom prst="rect">
            <a:avLst/>
          </a:prstGeom>
        </p:spPr>
      </p:pic>
      <p:pic>
        <p:nvPicPr>
          <p:cNvPr id="11" name="Picture 10">
            <a:extLst>
              <a:ext uri="{FF2B5EF4-FFF2-40B4-BE49-F238E27FC236}">
                <a16:creationId xmlns:a16="http://schemas.microsoft.com/office/drawing/2014/main" id="{536F45C4-6BE1-9C4F-3CB6-121F43942F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0578" y="4598077"/>
            <a:ext cx="2162202" cy="849567"/>
          </a:xfrm>
          <a:prstGeom prst="rect">
            <a:avLst/>
          </a:prstGeom>
        </p:spPr>
      </p:pic>
      <p:sp>
        <p:nvSpPr>
          <p:cNvPr id="13" name="Rectangle 12">
            <a:extLst>
              <a:ext uri="{FF2B5EF4-FFF2-40B4-BE49-F238E27FC236}">
                <a16:creationId xmlns:a16="http://schemas.microsoft.com/office/drawing/2014/main" id="{9FD7C64F-FB9F-3D45-68CA-552C55E131EB}"/>
              </a:ext>
            </a:extLst>
          </p:cNvPr>
          <p:cNvSpPr/>
          <p:nvPr/>
        </p:nvSpPr>
        <p:spPr>
          <a:xfrm>
            <a:off x="863808" y="1626909"/>
            <a:ext cx="5563224" cy="1932233"/>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p>
          <a:p>
            <a:r>
              <a:rPr lang="en-US" sz="1200" dirty="0">
                <a:solidFill>
                  <a:srgbClr val="00B0F0"/>
                </a:solidFill>
              </a:rPr>
              <a:t> COUNT(</a:t>
            </a:r>
            <a:r>
              <a:rPr lang="en-US" sz="1200" dirty="0" err="1">
                <a:solidFill>
                  <a:srgbClr val="00B0F0"/>
                </a:solidFill>
              </a:rPr>
              <a:t>order_id</a:t>
            </a:r>
            <a:r>
              <a:rPr lang="en-US" sz="1200" dirty="0">
                <a:solidFill>
                  <a:srgbClr val="00B0F0"/>
                </a:solidFill>
              </a:rPr>
              <a:t>) as Orders_2017</a:t>
            </a:r>
          </a:p>
          <a:p>
            <a:r>
              <a:rPr lang="en-US" sz="1200" dirty="0">
                <a:solidFill>
                  <a:srgbClr val="00B0F0"/>
                </a:solidFill>
              </a:rPr>
              <a:t>FROM    </a:t>
            </a:r>
            <a:r>
              <a:rPr lang="en-US" sz="1200" dirty="0" err="1">
                <a:solidFill>
                  <a:srgbClr val="00B0F0"/>
                </a:solidFill>
              </a:rPr>
              <a:t>orders_table</a:t>
            </a:r>
            <a:endParaRPr lang="en-US" sz="1200" dirty="0">
              <a:solidFill>
                <a:srgbClr val="00B0F0"/>
              </a:solidFill>
            </a:endParaRPr>
          </a:p>
          <a:p>
            <a:r>
              <a:rPr lang="en-US" sz="1200" dirty="0">
                <a:solidFill>
                  <a:srgbClr val="00B0F0"/>
                </a:solidFill>
              </a:rPr>
              <a:t>WHERE    YEAR(</a:t>
            </a:r>
            <a:r>
              <a:rPr lang="en-US" sz="1200" dirty="0" err="1">
                <a:solidFill>
                  <a:srgbClr val="00B0F0"/>
                </a:solidFill>
              </a:rPr>
              <a:t>order_purchase_date</a:t>
            </a:r>
            <a:r>
              <a:rPr lang="en-US" sz="1200" dirty="0">
                <a:solidFill>
                  <a:srgbClr val="00B0F0"/>
                </a:solidFill>
              </a:rPr>
              <a:t>) = '2017'</a:t>
            </a:r>
            <a:endParaRPr lang="en-IN" sz="1200" dirty="0">
              <a:solidFill>
                <a:srgbClr val="00B0F0"/>
              </a:solidFill>
            </a:endParaRPr>
          </a:p>
        </p:txBody>
      </p:sp>
      <p:sp>
        <p:nvSpPr>
          <p:cNvPr id="14" name="Rectangle 13">
            <a:extLst>
              <a:ext uri="{FF2B5EF4-FFF2-40B4-BE49-F238E27FC236}">
                <a16:creationId xmlns:a16="http://schemas.microsoft.com/office/drawing/2014/main" id="{77E32E28-7272-3FD4-06C3-E394DED2DB45}"/>
              </a:ext>
            </a:extLst>
          </p:cNvPr>
          <p:cNvSpPr/>
          <p:nvPr/>
        </p:nvSpPr>
        <p:spPr>
          <a:xfrm>
            <a:off x="6100763" y="4056745"/>
            <a:ext cx="5563224" cy="1932233"/>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m1=</a:t>
            </a:r>
            <a:r>
              <a:rPr lang="en-US" sz="1200">
                <a:solidFill>
                  <a:srgbClr val="00B0F0"/>
                </a:solidFill>
              </a:rPr>
              <a:t>orders['</a:t>
            </a:r>
            <a:r>
              <a:rPr lang="en-US" sz="1200" dirty="0" err="1">
                <a:solidFill>
                  <a:srgbClr val="00B0F0"/>
                </a:solidFill>
              </a:rPr>
              <a:t>order_</a:t>
            </a:r>
            <a:r>
              <a:rPr lang="en-US" sz="1200" err="1">
                <a:solidFill>
                  <a:srgbClr val="00B0F0"/>
                </a:solidFill>
              </a:rPr>
              <a:t>purchase</a:t>
            </a:r>
            <a:r>
              <a:rPr lang="en-US" sz="1200">
                <a:solidFill>
                  <a:srgbClr val="00B0F0"/>
                </a:solidFill>
              </a:rPr>
              <a:t>_date'].</a:t>
            </a:r>
            <a:r>
              <a:rPr lang="en-US" sz="1200" err="1">
                <a:solidFill>
                  <a:srgbClr val="00B0F0"/>
                </a:solidFill>
              </a:rPr>
              <a:t>dt</a:t>
            </a:r>
            <a:r>
              <a:rPr lang="en-US" sz="1200">
                <a:solidFill>
                  <a:srgbClr val="00B0F0"/>
                </a:solidFill>
              </a:rPr>
              <a:t>.year</a:t>
            </a:r>
            <a:r>
              <a:rPr lang="en-US" sz="1200" dirty="0">
                <a:solidFill>
                  <a:srgbClr val="00B0F0"/>
                </a:solidFill>
              </a:rPr>
              <a:t>==2017</a:t>
            </a:r>
          </a:p>
          <a:p>
            <a:r>
              <a:rPr lang="en-US" sz="1200" dirty="0">
                <a:solidFill>
                  <a:srgbClr val="00B0F0"/>
                </a:solidFill>
              </a:rPr>
              <a:t>orders[</a:t>
            </a:r>
            <a:r>
              <a:rPr lang="en-US" sz="1200">
                <a:solidFill>
                  <a:srgbClr val="00B0F0"/>
                </a:solidFill>
              </a:rPr>
              <a:t>m1]['</a:t>
            </a:r>
            <a:r>
              <a:rPr lang="en-US" sz="1200" err="1">
                <a:solidFill>
                  <a:srgbClr val="00B0F0"/>
                </a:solidFill>
              </a:rPr>
              <a:t>order</a:t>
            </a:r>
            <a:r>
              <a:rPr lang="en-US" sz="1200">
                <a:solidFill>
                  <a:srgbClr val="00B0F0"/>
                </a:solidFill>
              </a:rPr>
              <a:t>_id</a:t>
            </a:r>
            <a:r>
              <a:rPr lang="en-US" sz="1200" dirty="0">
                <a:solidFill>
                  <a:srgbClr val="00B0F0"/>
                </a:solidFill>
              </a:rPr>
              <a:t>'].count()</a:t>
            </a:r>
            <a:endParaRPr lang="en-IN" sz="1200" dirty="0">
              <a:solidFill>
                <a:srgbClr val="00B0F0"/>
              </a:solidFill>
            </a:endParaRPr>
          </a:p>
        </p:txBody>
      </p:sp>
      <p:sp>
        <p:nvSpPr>
          <p:cNvPr id="5" name="TextBox 4">
            <a:extLst>
              <a:ext uri="{FF2B5EF4-FFF2-40B4-BE49-F238E27FC236}">
                <a16:creationId xmlns:a16="http://schemas.microsoft.com/office/drawing/2014/main" id="{32690155-8610-DCCE-F129-5FA8DCD570BF}"/>
              </a:ext>
            </a:extLst>
          </p:cNvPr>
          <p:cNvSpPr txBox="1"/>
          <p:nvPr/>
        </p:nvSpPr>
        <p:spPr>
          <a:xfrm>
            <a:off x="331032" y="41408"/>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Basic Problem</a:t>
            </a:r>
            <a:endParaRPr lang="en-IN" dirty="0"/>
          </a:p>
        </p:txBody>
      </p:sp>
    </p:spTree>
    <p:extLst>
      <p:ext uri="{BB962C8B-B14F-4D97-AF65-F5344CB8AC3E}">
        <p14:creationId xmlns:p14="http://schemas.microsoft.com/office/powerpoint/2010/main" val="2990213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45F228-8C16-CBBE-E71A-5894E47E1220}"/>
              </a:ext>
            </a:extLst>
          </p:cNvPr>
          <p:cNvSpPr txBox="1"/>
          <p:nvPr/>
        </p:nvSpPr>
        <p:spPr>
          <a:xfrm>
            <a:off x="1397833" y="842160"/>
            <a:ext cx="6093500" cy="369332"/>
          </a:xfrm>
          <a:prstGeom prst="rect">
            <a:avLst/>
          </a:prstGeom>
          <a:noFill/>
        </p:spPr>
        <p:txBody>
          <a:bodyPr wrap="square">
            <a:spAutoFit/>
          </a:bodyPr>
          <a:lstStyle/>
          <a:p>
            <a:r>
              <a:rPr lang="en-US" dirty="0">
                <a:solidFill>
                  <a:srgbClr val="26262F"/>
                </a:solidFill>
                <a:latin typeface="Arial" panose="020B0604020202020204" pitchFamily="34" charset="0"/>
              </a:rPr>
              <a:t>Find the Total sales per category.</a:t>
            </a:r>
            <a:endParaRPr lang="en-IN" dirty="0">
              <a:solidFill>
                <a:srgbClr val="26262F"/>
              </a:solidFill>
              <a:latin typeface="Arial" panose="020B0604020202020204" pitchFamily="34" charset="0"/>
            </a:endParaRPr>
          </a:p>
        </p:txBody>
      </p:sp>
      <p:sp>
        <p:nvSpPr>
          <p:cNvPr id="5" name="TextBox 4">
            <a:extLst>
              <a:ext uri="{FF2B5EF4-FFF2-40B4-BE49-F238E27FC236}">
                <a16:creationId xmlns:a16="http://schemas.microsoft.com/office/drawing/2014/main" id="{BA12AF47-802F-75FB-B391-9662AECF8235}"/>
              </a:ext>
            </a:extLst>
          </p:cNvPr>
          <p:cNvSpPr txBox="1"/>
          <p:nvPr/>
        </p:nvSpPr>
        <p:spPr>
          <a:xfrm>
            <a:off x="592112" y="842160"/>
            <a:ext cx="805721"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sp>
        <p:nvSpPr>
          <p:cNvPr id="6" name="Rectangle 5">
            <a:extLst>
              <a:ext uri="{FF2B5EF4-FFF2-40B4-BE49-F238E27FC236}">
                <a16:creationId xmlns:a16="http://schemas.microsoft.com/office/drawing/2014/main" id="{17592AAC-C5FC-AAA6-A0F7-E7AC5FA0F332}"/>
              </a:ext>
            </a:extLst>
          </p:cNvPr>
          <p:cNvSpPr/>
          <p:nvPr/>
        </p:nvSpPr>
        <p:spPr>
          <a:xfrm>
            <a:off x="6096000" y="1760874"/>
            <a:ext cx="5563224" cy="2014999"/>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br>
              <a:rPr lang="en-US" sz="1200" dirty="0">
                <a:solidFill>
                  <a:srgbClr val="00B0F0"/>
                </a:solidFill>
              </a:rPr>
            </a:br>
            <a:r>
              <a:rPr lang="en-US" sz="1200" dirty="0" err="1">
                <a:solidFill>
                  <a:srgbClr val="00B0F0"/>
                </a:solidFill>
              </a:rPr>
              <a:t>p.product_category</a:t>
            </a:r>
            <a:r>
              <a:rPr lang="en-US" sz="1200" dirty="0">
                <a:solidFill>
                  <a:srgbClr val="00B0F0"/>
                </a:solidFill>
              </a:rPr>
              <a:t> AS category,</a:t>
            </a:r>
            <a:br>
              <a:rPr lang="en-US" sz="1200" dirty="0">
                <a:solidFill>
                  <a:srgbClr val="00B0F0"/>
                </a:solidFill>
              </a:rPr>
            </a:br>
            <a:r>
              <a:rPr lang="en-US" sz="1200" dirty="0">
                <a:solidFill>
                  <a:srgbClr val="00B0F0"/>
                </a:solidFill>
              </a:rPr>
              <a:t>ROUND(SUM(</a:t>
            </a:r>
            <a:r>
              <a:rPr lang="en-US" sz="1200" dirty="0" err="1">
                <a:solidFill>
                  <a:srgbClr val="00B0F0"/>
                </a:solidFill>
              </a:rPr>
              <a:t>oi.price</a:t>
            </a:r>
            <a:r>
              <a:rPr lang="en-US" sz="1200" dirty="0">
                <a:solidFill>
                  <a:srgbClr val="00B0F0"/>
                </a:solidFill>
              </a:rPr>
              <a:t>), 2) AS </a:t>
            </a:r>
            <a:r>
              <a:rPr lang="en-US" sz="1200" dirty="0" err="1">
                <a:solidFill>
                  <a:srgbClr val="00B0F0"/>
                </a:solidFill>
              </a:rPr>
              <a:t>total_sales</a:t>
            </a:r>
            <a:br>
              <a:rPr lang="en-US" sz="1200" dirty="0">
                <a:solidFill>
                  <a:srgbClr val="00B0F0"/>
                </a:solidFill>
              </a:rPr>
            </a:br>
            <a:r>
              <a:rPr lang="en-US" sz="1200" dirty="0">
                <a:solidFill>
                  <a:srgbClr val="00B0F0"/>
                </a:solidFill>
              </a:rPr>
              <a:t>FROM </a:t>
            </a:r>
            <a:r>
              <a:rPr lang="en-US" sz="1200" dirty="0" err="1">
                <a:solidFill>
                  <a:srgbClr val="00B0F0"/>
                </a:solidFill>
              </a:rPr>
              <a:t>order_item</a:t>
            </a:r>
            <a:r>
              <a:rPr lang="en-US" sz="1200" dirty="0">
                <a:solidFill>
                  <a:srgbClr val="00B0F0"/>
                </a:solidFill>
              </a:rPr>
              <a:t> oi</a:t>
            </a:r>
            <a:br>
              <a:rPr lang="en-US" sz="1200" dirty="0">
                <a:solidFill>
                  <a:srgbClr val="00B0F0"/>
                </a:solidFill>
              </a:rPr>
            </a:br>
            <a:r>
              <a:rPr lang="en-US" sz="1200" dirty="0">
                <a:solidFill>
                  <a:srgbClr val="00B0F0"/>
                </a:solidFill>
              </a:rPr>
              <a:t>JOIN products p </a:t>
            </a:r>
            <a:br>
              <a:rPr lang="en-US" sz="1200" dirty="0">
                <a:solidFill>
                  <a:srgbClr val="00B0F0"/>
                </a:solidFill>
              </a:rPr>
            </a:br>
            <a:r>
              <a:rPr lang="en-US" sz="1200" dirty="0">
                <a:solidFill>
                  <a:srgbClr val="00B0F0"/>
                </a:solidFill>
              </a:rPr>
              <a:t>ON </a:t>
            </a:r>
            <a:r>
              <a:rPr lang="en-US" sz="1200" dirty="0" err="1">
                <a:solidFill>
                  <a:srgbClr val="00B0F0"/>
                </a:solidFill>
              </a:rPr>
              <a:t>oi.product_id</a:t>
            </a:r>
            <a:r>
              <a:rPr lang="en-US" sz="1200" dirty="0">
                <a:solidFill>
                  <a:srgbClr val="00B0F0"/>
                </a:solidFill>
              </a:rPr>
              <a:t> = </a:t>
            </a:r>
            <a:r>
              <a:rPr lang="en-US" sz="1200" dirty="0" err="1">
                <a:solidFill>
                  <a:srgbClr val="00B0F0"/>
                </a:solidFill>
              </a:rPr>
              <a:t>p.product_id</a:t>
            </a:r>
            <a:br>
              <a:rPr lang="en-US" sz="1200" dirty="0">
                <a:solidFill>
                  <a:srgbClr val="00B0F0"/>
                </a:solidFill>
              </a:rPr>
            </a:br>
            <a:r>
              <a:rPr lang="en-US" sz="1200" dirty="0">
                <a:solidFill>
                  <a:srgbClr val="00B0F0"/>
                </a:solidFill>
              </a:rPr>
              <a:t>GROUP BY </a:t>
            </a:r>
            <a:r>
              <a:rPr lang="en-US" sz="1200" dirty="0" err="1">
                <a:solidFill>
                  <a:srgbClr val="00B0F0"/>
                </a:solidFill>
              </a:rPr>
              <a:t>p.product_category</a:t>
            </a:r>
            <a:br>
              <a:rPr lang="en-US" sz="1200" dirty="0">
                <a:solidFill>
                  <a:srgbClr val="00B0F0"/>
                </a:solidFill>
              </a:rPr>
            </a:br>
            <a:r>
              <a:rPr lang="en-US" sz="1200" dirty="0">
                <a:solidFill>
                  <a:srgbClr val="00B0F0"/>
                </a:solidFill>
              </a:rPr>
              <a:t>ORDER BY </a:t>
            </a:r>
            <a:r>
              <a:rPr lang="en-US" sz="1200" dirty="0" err="1">
                <a:solidFill>
                  <a:srgbClr val="00B0F0"/>
                </a:solidFill>
              </a:rPr>
              <a:t>total_sales</a:t>
            </a:r>
            <a:r>
              <a:rPr lang="en-US" sz="1200" dirty="0">
                <a:solidFill>
                  <a:srgbClr val="00B0F0"/>
                </a:solidFill>
              </a:rPr>
              <a:t> DESC</a:t>
            </a:r>
            <a:br>
              <a:rPr lang="en-US" sz="1200" dirty="0">
                <a:solidFill>
                  <a:srgbClr val="00B0F0"/>
                </a:solidFill>
              </a:rPr>
            </a:br>
            <a:r>
              <a:rPr lang="en-US" sz="1200" dirty="0">
                <a:solidFill>
                  <a:srgbClr val="00B0F0"/>
                </a:solidFill>
              </a:rPr>
              <a:t>LIMIT 10;</a:t>
            </a:r>
            <a:endParaRPr lang="en-IN" sz="1200" dirty="0">
              <a:solidFill>
                <a:srgbClr val="00B0F0"/>
              </a:solidFill>
            </a:endParaRPr>
          </a:p>
        </p:txBody>
      </p:sp>
      <p:sp>
        <p:nvSpPr>
          <p:cNvPr id="8" name="Rectangle 7">
            <a:extLst>
              <a:ext uri="{FF2B5EF4-FFF2-40B4-BE49-F238E27FC236}">
                <a16:creationId xmlns:a16="http://schemas.microsoft.com/office/drawing/2014/main" id="{C9E95240-D2B5-566D-1B52-CED6DFC5C3A6}"/>
              </a:ext>
            </a:extLst>
          </p:cNvPr>
          <p:cNvSpPr/>
          <p:nvPr/>
        </p:nvSpPr>
        <p:spPr>
          <a:xfrm>
            <a:off x="240383" y="4513943"/>
            <a:ext cx="5563224" cy="2165771"/>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x1=top10_category['</a:t>
            </a:r>
            <a:r>
              <a:rPr lang="en-US" sz="1200" dirty="0" err="1">
                <a:solidFill>
                  <a:srgbClr val="00B0F0"/>
                </a:solidFill>
              </a:rPr>
              <a:t>product_category</a:t>
            </a:r>
            <a:r>
              <a:rPr lang="en-US" sz="1200" dirty="0">
                <a:solidFill>
                  <a:srgbClr val="00B0F0"/>
                </a:solidFill>
              </a:rPr>
              <a:t>']</a:t>
            </a:r>
          </a:p>
          <a:p>
            <a:r>
              <a:rPr lang="en-US" sz="1200" dirty="0">
                <a:solidFill>
                  <a:srgbClr val="00B0F0"/>
                </a:solidFill>
              </a:rPr>
              <a:t>y1=top10_category['</a:t>
            </a:r>
            <a:r>
              <a:rPr lang="en-US" sz="1200" dirty="0" err="1">
                <a:solidFill>
                  <a:srgbClr val="00B0F0"/>
                </a:solidFill>
              </a:rPr>
              <a:t>category_rev</a:t>
            </a:r>
            <a:r>
              <a:rPr lang="en-US" sz="1200" dirty="0">
                <a:solidFill>
                  <a:srgbClr val="00B0F0"/>
                </a:solidFill>
              </a:rPr>
              <a:t>']</a:t>
            </a:r>
          </a:p>
          <a:p>
            <a:r>
              <a:rPr lang="en-US" sz="1200" dirty="0" err="1">
                <a:solidFill>
                  <a:srgbClr val="00B0F0"/>
                </a:solidFill>
              </a:rPr>
              <a:t>plt.figure</a:t>
            </a:r>
            <a:r>
              <a:rPr lang="en-US" sz="1200" dirty="0">
                <a:solidFill>
                  <a:srgbClr val="00B0F0"/>
                </a:solidFill>
              </a:rPr>
              <a:t>(</a:t>
            </a:r>
            <a:r>
              <a:rPr lang="en-US" sz="1200" dirty="0" err="1">
                <a:solidFill>
                  <a:srgbClr val="00B0F0"/>
                </a:solidFill>
              </a:rPr>
              <a:t>figsize</a:t>
            </a:r>
            <a:r>
              <a:rPr lang="en-US" sz="1200" dirty="0">
                <a:solidFill>
                  <a:srgbClr val="00B0F0"/>
                </a:solidFill>
              </a:rPr>
              <a:t>=(7,3))</a:t>
            </a:r>
          </a:p>
          <a:p>
            <a:r>
              <a:rPr lang="en-US" sz="1200" dirty="0" err="1">
                <a:solidFill>
                  <a:srgbClr val="00B0F0"/>
                </a:solidFill>
              </a:rPr>
              <a:t>plt.bar</a:t>
            </a:r>
            <a:r>
              <a:rPr lang="en-US" sz="1200" dirty="0">
                <a:solidFill>
                  <a:srgbClr val="00B0F0"/>
                </a:solidFill>
              </a:rPr>
              <a:t>(x1,y1,color='</a:t>
            </a:r>
            <a:r>
              <a:rPr lang="en-US" sz="1200" dirty="0" err="1">
                <a:solidFill>
                  <a:srgbClr val="00B0F0"/>
                </a:solidFill>
              </a:rPr>
              <a:t>g',width</a:t>
            </a:r>
            <a:r>
              <a:rPr lang="en-US" sz="1200" dirty="0">
                <a:solidFill>
                  <a:srgbClr val="00B0F0"/>
                </a:solidFill>
              </a:rPr>
              <a:t>=0.8, </a:t>
            </a:r>
            <a:r>
              <a:rPr lang="en-US" sz="1200" dirty="0" err="1">
                <a:solidFill>
                  <a:srgbClr val="00B0F0"/>
                </a:solidFill>
              </a:rPr>
              <a:t>edgecolor</a:t>
            </a:r>
            <a:r>
              <a:rPr lang="en-US" sz="1200" dirty="0">
                <a:solidFill>
                  <a:srgbClr val="00B0F0"/>
                </a:solidFill>
              </a:rPr>
              <a:t>="white", linewidth=0.7)</a:t>
            </a:r>
          </a:p>
          <a:p>
            <a:r>
              <a:rPr lang="en-US" sz="1200" dirty="0" err="1">
                <a:solidFill>
                  <a:srgbClr val="00B0F0"/>
                </a:solidFill>
              </a:rPr>
              <a:t>plt.title</a:t>
            </a:r>
            <a:r>
              <a:rPr lang="en-US" sz="1200" dirty="0">
                <a:solidFill>
                  <a:srgbClr val="00B0F0"/>
                </a:solidFill>
              </a:rPr>
              <a:t>('Top10_category')</a:t>
            </a:r>
          </a:p>
          <a:p>
            <a:r>
              <a:rPr lang="en-US" sz="1200" dirty="0" err="1">
                <a:solidFill>
                  <a:srgbClr val="00B0F0"/>
                </a:solidFill>
              </a:rPr>
              <a:t>plt.xlabel</a:t>
            </a:r>
            <a:r>
              <a:rPr lang="en-US" sz="1200" dirty="0">
                <a:solidFill>
                  <a:srgbClr val="00B0F0"/>
                </a:solidFill>
              </a:rPr>
              <a:t>('category')</a:t>
            </a:r>
          </a:p>
          <a:p>
            <a:r>
              <a:rPr lang="en-US" sz="1200" dirty="0" err="1">
                <a:solidFill>
                  <a:srgbClr val="00B0F0"/>
                </a:solidFill>
              </a:rPr>
              <a:t>plt.ylabel</a:t>
            </a:r>
            <a:r>
              <a:rPr lang="en-US" sz="1200" dirty="0">
                <a:solidFill>
                  <a:srgbClr val="00B0F0"/>
                </a:solidFill>
              </a:rPr>
              <a:t>('</a:t>
            </a:r>
            <a:r>
              <a:rPr lang="en-US" sz="1200" dirty="0" err="1">
                <a:solidFill>
                  <a:srgbClr val="00B0F0"/>
                </a:solidFill>
              </a:rPr>
              <a:t>Total_revenue</a:t>
            </a:r>
            <a:r>
              <a:rPr lang="en-US" sz="1200" dirty="0">
                <a:solidFill>
                  <a:srgbClr val="00B0F0"/>
                </a:solidFill>
              </a:rPr>
              <a:t>')</a:t>
            </a:r>
          </a:p>
          <a:p>
            <a:r>
              <a:rPr lang="en-US" sz="1200" dirty="0" err="1">
                <a:solidFill>
                  <a:srgbClr val="00B0F0"/>
                </a:solidFill>
              </a:rPr>
              <a:t>plt.xticks</a:t>
            </a:r>
            <a:r>
              <a:rPr lang="en-US" sz="1200" dirty="0">
                <a:solidFill>
                  <a:srgbClr val="00B0F0"/>
                </a:solidFill>
              </a:rPr>
              <a:t>(rotation=45)</a:t>
            </a:r>
          </a:p>
          <a:p>
            <a:r>
              <a:rPr lang="en-US" sz="1200" dirty="0" err="1">
                <a:solidFill>
                  <a:srgbClr val="00B0F0"/>
                </a:solidFill>
              </a:rPr>
              <a:t>plt.show</a:t>
            </a:r>
            <a:r>
              <a:rPr lang="en-US" sz="1200" dirty="0">
                <a:solidFill>
                  <a:srgbClr val="00B0F0"/>
                </a:solidFill>
              </a:rPr>
              <a:t>()</a:t>
            </a:r>
          </a:p>
          <a:p>
            <a:pPr algn="ctr"/>
            <a:r>
              <a:rPr lang="en-US" dirty="0">
                <a:solidFill>
                  <a:srgbClr val="00B0F0"/>
                </a:solidFill>
              </a:rPr>
              <a:t>'</a:t>
            </a:r>
            <a:endParaRPr lang="en-IN" dirty="0">
              <a:solidFill>
                <a:srgbClr val="00B0F0"/>
              </a:solidFill>
            </a:endParaRPr>
          </a:p>
        </p:txBody>
      </p:sp>
      <p:pic>
        <p:nvPicPr>
          <p:cNvPr id="13" name="Picture 12">
            <a:extLst>
              <a:ext uri="{FF2B5EF4-FFF2-40B4-BE49-F238E27FC236}">
                <a16:creationId xmlns:a16="http://schemas.microsoft.com/office/drawing/2014/main" id="{636C7429-362C-E685-AF16-7A780A539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972" y="1683220"/>
            <a:ext cx="3682167" cy="2499815"/>
          </a:xfrm>
          <a:prstGeom prst="rect">
            <a:avLst/>
          </a:prstGeom>
        </p:spPr>
      </p:pic>
      <p:pic>
        <p:nvPicPr>
          <p:cNvPr id="17" name="Picture 16">
            <a:extLst>
              <a:ext uri="{FF2B5EF4-FFF2-40B4-BE49-F238E27FC236}">
                <a16:creationId xmlns:a16="http://schemas.microsoft.com/office/drawing/2014/main" id="{5A54580F-A942-97EB-A1AB-1CB397670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4285" y="4325256"/>
            <a:ext cx="5297713" cy="2498754"/>
          </a:xfrm>
          <a:prstGeom prst="rect">
            <a:avLst/>
          </a:prstGeom>
        </p:spPr>
      </p:pic>
      <p:sp>
        <p:nvSpPr>
          <p:cNvPr id="4" name="TextBox 3">
            <a:extLst>
              <a:ext uri="{FF2B5EF4-FFF2-40B4-BE49-F238E27FC236}">
                <a16:creationId xmlns:a16="http://schemas.microsoft.com/office/drawing/2014/main" id="{E3B113E1-9E4C-7CBC-91C8-8D330BDC93E9}"/>
              </a:ext>
            </a:extLst>
          </p:cNvPr>
          <p:cNvSpPr txBox="1"/>
          <p:nvPr/>
        </p:nvSpPr>
        <p:spPr>
          <a:xfrm>
            <a:off x="240383" y="178286"/>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Basic Problem</a:t>
            </a:r>
            <a:endParaRPr lang="en-IN" dirty="0"/>
          </a:p>
        </p:txBody>
      </p:sp>
    </p:spTree>
    <p:extLst>
      <p:ext uri="{BB962C8B-B14F-4D97-AF65-F5344CB8AC3E}">
        <p14:creationId xmlns:p14="http://schemas.microsoft.com/office/powerpoint/2010/main" val="74231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7D2AD-1E6D-512B-7632-3F03BE3EDB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282BE0-DDFC-2961-3222-67680EF4C0D2}"/>
              </a:ext>
            </a:extLst>
          </p:cNvPr>
          <p:cNvSpPr txBox="1"/>
          <p:nvPr/>
        </p:nvSpPr>
        <p:spPr>
          <a:xfrm>
            <a:off x="333532" y="0"/>
            <a:ext cx="60935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Basic Problem</a:t>
            </a:r>
            <a:endParaRPr lang="en-IN" dirty="0"/>
          </a:p>
        </p:txBody>
      </p:sp>
      <p:sp>
        <p:nvSpPr>
          <p:cNvPr id="6" name="TextBox 5">
            <a:extLst>
              <a:ext uri="{FF2B5EF4-FFF2-40B4-BE49-F238E27FC236}">
                <a16:creationId xmlns:a16="http://schemas.microsoft.com/office/drawing/2014/main" id="{38F32544-1A25-1888-01AD-B709C95FCC45}"/>
              </a:ext>
            </a:extLst>
          </p:cNvPr>
          <p:cNvSpPr txBox="1"/>
          <p:nvPr/>
        </p:nvSpPr>
        <p:spPr>
          <a:xfrm>
            <a:off x="1128009" y="659567"/>
            <a:ext cx="8225853" cy="677108"/>
          </a:xfrm>
          <a:prstGeom prst="rect">
            <a:avLst/>
          </a:prstGeom>
          <a:noFill/>
        </p:spPr>
        <p:txBody>
          <a:bodyPr wrap="square" rtlCol="0">
            <a:spAutoFit/>
          </a:bodyPr>
          <a:lstStyle/>
          <a:p>
            <a:r>
              <a:rPr lang="en-US" sz="2000" b="0" i="0" u="none" strike="noStrike" dirty="0">
                <a:solidFill>
                  <a:srgbClr val="26262F"/>
                </a:solidFill>
                <a:effectLst/>
                <a:latin typeface="Arial" panose="020B0604020202020204" pitchFamily="34" charset="0"/>
              </a:rPr>
              <a:t>Calculate the percentage of orders that were paid in installments.</a:t>
            </a:r>
            <a:endParaRPr lang="en-IN" sz="2000" dirty="0"/>
          </a:p>
          <a:p>
            <a:endParaRPr lang="en-IN" dirty="0"/>
          </a:p>
        </p:txBody>
      </p:sp>
      <p:sp>
        <p:nvSpPr>
          <p:cNvPr id="7" name="TextBox 6">
            <a:extLst>
              <a:ext uri="{FF2B5EF4-FFF2-40B4-BE49-F238E27FC236}">
                <a16:creationId xmlns:a16="http://schemas.microsoft.com/office/drawing/2014/main" id="{44746BC8-C8A7-C927-E1A1-3F6C1CAC6BBB}"/>
              </a:ext>
            </a:extLst>
          </p:cNvPr>
          <p:cNvSpPr txBox="1"/>
          <p:nvPr/>
        </p:nvSpPr>
        <p:spPr>
          <a:xfrm>
            <a:off x="333532" y="659567"/>
            <a:ext cx="1060553" cy="400110"/>
          </a:xfrm>
          <a:prstGeom prst="rect">
            <a:avLst/>
          </a:prstGeom>
          <a:noFill/>
        </p:spPr>
        <p:txBody>
          <a:bodyPr wrap="square" rtlCol="0">
            <a:spAutoFit/>
          </a:bodyPr>
          <a:lstStyle/>
          <a:p>
            <a:r>
              <a:rPr lang="en-US" sz="2000" dirty="0">
                <a:solidFill>
                  <a:srgbClr val="26262F"/>
                </a:solidFill>
                <a:latin typeface="Arial" panose="020B0604020202020204" pitchFamily="34" charset="0"/>
              </a:rPr>
              <a:t>Ques-</a:t>
            </a:r>
            <a:endParaRPr lang="en-IN" sz="2000" dirty="0">
              <a:solidFill>
                <a:srgbClr val="26262F"/>
              </a:solidFill>
              <a:latin typeface="Arial" panose="020B0604020202020204" pitchFamily="34" charset="0"/>
            </a:endParaRPr>
          </a:p>
        </p:txBody>
      </p:sp>
      <p:pic>
        <p:nvPicPr>
          <p:cNvPr id="3" name="Picture 2">
            <a:extLst>
              <a:ext uri="{FF2B5EF4-FFF2-40B4-BE49-F238E27FC236}">
                <a16:creationId xmlns:a16="http://schemas.microsoft.com/office/drawing/2014/main" id="{BE9C42C5-A34A-660D-1749-F50E8D165F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43" y="1349912"/>
            <a:ext cx="7691443" cy="2481859"/>
          </a:xfrm>
          <a:prstGeom prst="rect">
            <a:avLst/>
          </a:prstGeom>
        </p:spPr>
      </p:pic>
      <p:pic>
        <p:nvPicPr>
          <p:cNvPr id="8" name="Picture 7">
            <a:extLst>
              <a:ext uri="{FF2B5EF4-FFF2-40B4-BE49-F238E27FC236}">
                <a16:creationId xmlns:a16="http://schemas.microsoft.com/office/drawing/2014/main" id="{4B9CF8B9-F73C-FDF6-26A7-436B38417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7371" y="3974396"/>
            <a:ext cx="8894022" cy="2883604"/>
          </a:xfrm>
          <a:prstGeom prst="rect">
            <a:avLst/>
          </a:prstGeom>
        </p:spPr>
      </p:pic>
    </p:spTree>
    <p:extLst>
      <p:ext uri="{BB962C8B-B14F-4D97-AF65-F5344CB8AC3E}">
        <p14:creationId xmlns:p14="http://schemas.microsoft.com/office/powerpoint/2010/main" val="217156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CDF5-33C0-B6F7-87FC-73DAF9A3E0F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32F368-D574-02D4-00A3-BC6E564D07BB}"/>
              </a:ext>
            </a:extLst>
          </p:cNvPr>
          <p:cNvSpPr txBox="1"/>
          <p:nvPr/>
        </p:nvSpPr>
        <p:spPr>
          <a:xfrm>
            <a:off x="333532" y="0"/>
            <a:ext cx="60935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Basic Problem</a:t>
            </a:r>
            <a:endParaRPr lang="en-IN" dirty="0"/>
          </a:p>
        </p:txBody>
      </p:sp>
      <p:sp>
        <p:nvSpPr>
          <p:cNvPr id="6" name="TextBox 5">
            <a:extLst>
              <a:ext uri="{FF2B5EF4-FFF2-40B4-BE49-F238E27FC236}">
                <a16:creationId xmlns:a16="http://schemas.microsoft.com/office/drawing/2014/main" id="{5AD2679A-A028-C4FC-8814-B52EAA53669C}"/>
              </a:ext>
            </a:extLst>
          </p:cNvPr>
          <p:cNvSpPr txBox="1"/>
          <p:nvPr/>
        </p:nvSpPr>
        <p:spPr>
          <a:xfrm>
            <a:off x="1128009" y="659567"/>
            <a:ext cx="6610663" cy="677108"/>
          </a:xfrm>
          <a:prstGeom prst="rect">
            <a:avLst/>
          </a:prstGeom>
          <a:noFill/>
        </p:spPr>
        <p:txBody>
          <a:bodyPr wrap="square" rtlCol="0">
            <a:spAutoFit/>
          </a:bodyPr>
          <a:lstStyle/>
          <a:p>
            <a:r>
              <a:rPr lang="en-US" sz="2000" b="0" i="0" u="none" strike="noStrike" dirty="0">
                <a:solidFill>
                  <a:srgbClr val="26262F"/>
                </a:solidFill>
                <a:effectLst/>
                <a:latin typeface="Arial" panose="020B0604020202020204" pitchFamily="34" charset="0"/>
              </a:rPr>
              <a:t>Count the number of customers from each state</a:t>
            </a:r>
            <a:endParaRPr lang="en-IN" sz="2000" dirty="0"/>
          </a:p>
          <a:p>
            <a:endParaRPr lang="en-IN" dirty="0"/>
          </a:p>
        </p:txBody>
      </p:sp>
      <p:sp>
        <p:nvSpPr>
          <p:cNvPr id="7" name="TextBox 6">
            <a:extLst>
              <a:ext uri="{FF2B5EF4-FFF2-40B4-BE49-F238E27FC236}">
                <a16:creationId xmlns:a16="http://schemas.microsoft.com/office/drawing/2014/main" id="{3B419EDD-1538-C960-6565-C881BF51BC0F}"/>
              </a:ext>
            </a:extLst>
          </p:cNvPr>
          <p:cNvSpPr txBox="1"/>
          <p:nvPr/>
        </p:nvSpPr>
        <p:spPr>
          <a:xfrm>
            <a:off x="333532" y="659567"/>
            <a:ext cx="1060553" cy="400110"/>
          </a:xfrm>
          <a:prstGeom prst="rect">
            <a:avLst/>
          </a:prstGeom>
          <a:noFill/>
        </p:spPr>
        <p:txBody>
          <a:bodyPr wrap="square" rtlCol="0">
            <a:spAutoFit/>
          </a:bodyPr>
          <a:lstStyle/>
          <a:p>
            <a:r>
              <a:rPr lang="en-US" sz="2000" dirty="0">
                <a:solidFill>
                  <a:srgbClr val="26262F"/>
                </a:solidFill>
                <a:latin typeface="Arial" panose="020B0604020202020204" pitchFamily="34" charset="0"/>
              </a:rPr>
              <a:t>Ques-</a:t>
            </a:r>
            <a:endParaRPr lang="en-IN" sz="2000" dirty="0">
              <a:solidFill>
                <a:srgbClr val="26262F"/>
              </a:solidFill>
              <a:latin typeface="Arial" panose="020B0604020202020204" pitchFamily="34" charset="0"/>
            </a:endParaRPr>
          </a:p>
        </p:txBody>
      </p:sp>
      <p:pic>
        <p:nvPicPr>
          <p:cNvPr id="8" name="Picture 7">
            <a:extLst>
              <a:ext uri="{FF2B5EF4-FFF2-40B4-BE49-F238E27FC236}">
                <a16:creationId xmlns:a16="http://schemas.microsoft.com/office/drawing/2014/main" id="{95F10EAE-F5AB-D063-19BD-F93B9F664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532" y="1160999"/>
            <a:ext cx="2926610" cy="2436898"/>
          </a:xfrm>
          <a:prstGeom prst="rect">
            <a:avLst/>
          </a:prstGeom>
        </p:spPr>
      </p:pic>
      <p:pic>
        <p:nvPicPr>
          <p:cNvPr id="16" name="Picture 15">
            <a:extLst>
              <a:ext uri="{FF2B5EF4-FFF2-40B4-BE49-F238E27FC236}">
                <a16:creationId xmlns:a16="http://schemas.microsoft.com/office/drawing/2014/main" id="{60DFE8D0-F0D0-F2BA-F584-2AAC0F4B0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7032" y="3699380"/>
            <a:ext cx="5764968" cy="2983106"/>
          </a:xfrm>
          <a:prstGeom prst="rect">
            <a:avLst/>
          </a:prstGeom>
        </p:spPr>
      </p:pic>
      <p:sp>
        <p:nvSpPr>
          <p:cNvPr id="4" name="Rectangle 3">
            <a:extLst>
              <a:ext uri="{FF2B5EF4-FFF2-40B4-BE49-F238E27FC236}">
                <a16:creationId xmlns:a16="http://schemas.microsoft.com/office/drawing/2014/main" id="{2DF07853-BD04-AC14-0FD8-511C65ED7FD3}"/>
              </a:ext>
            </a:extLst>
          </p:cNvPr>
          <p:cNvSpPr/>
          <p:nvPr/>
        </p:nvSpPr>
        <p:spPr>
          <a:xfrm>
            <a:off x="4840946" y="1336675"/>
            <a:ext cx="4607854" cy="2014999"/>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r>
              <a:rPr lang="en-US" sz="1200" dirty="0" err="1">
                <a:solidFill>
                  <a:srgbClr val="00B0F0"/>
                </a:solidFill>
              </a:rPr>
              <a:t>customer_state</a:t>
            </a:r>
            <a:r>
              <a:rPr lang="en-US" sz="1200" dirty="0">
                <a:solidFill>
                  <a:srgbClr val="00B0F0"/>
                </a:solidFill>
              </a:rPr>
              <a:t> AS Top10_state,    COUNT(distinct </a:t>
            </a:r>
            <a:r>
              <a:rPr lang="en-US" sz="1200" dirty="0" err="1">
                <a:solidFill>
                  <a:srgbClr val="00B0F0"/>
                </a:solidFill>
              </a:rPr>
              <a:t>customer_unique_id</a:t>
            </a:r>
            <a:r>
              <a:rPr lang="en-US" sz="1200" dirty="0">
                <a:solidFill>
                  <a:srgbClr val="00B0F0"/>
                </a:solidFill>
              </a:rPr>
              <a:t>) AS </a:t>
            </a:r>
            <a:r>
              <a:rPr lang="en-US" sz="1200" dirty="0" err="1">
                <a:solidFill>
                  <a:srgbClr val="00B0F0"/>
                </a:solidFill>
              </a:rPr>
              <a:t>total_customersFROM</a:t>
            </a:r>
            <a:r>
              <a:rPr lang="en-US" sz="1200" dirty="0">
                <a:solidFill>
                  <a:srgbClr val="00B0F0"/>
                </a:solidFill>
              </a:rPr>
              <a:t>    customers c join orders </a:t>
            </a:r>
            <a:r>
              <a:rPr lang="en-US" sz="1200" dirty="0" err="1">
                <a:solidFill>
                  <a:srgbClr val="00B0F0"/>
                </a:solidFill>
              </a:rPr>
              <a:t>ot</a:t>
            </a:r>
            <a:r>
              <a:rPr lang="en-US" sz="1200" dirty="0">
                <a:solidFill>
                  <a:srgbClr val="00B0F0"/>
                </a:solidFill>
              </a:rPr>
              <a:t> on </a:t>
            </a:r>
            <a:r>
              <a:rPr lang="en-US" sz="1200" dirty="0" err="1">
                <a:solidFill>
                  <a:srgbClr val="00B0F0"/>
                </a:solidFill>
              </a:rPr>
              <a:t>c.customer_id</a:t>
            </a:r>
            <a:r>
              <a:rPr lang="en-US" sz="1200" dirty="0">
                <a:solidFill>
                  <a:srgbClr val="00B0F0"/>
                </a:solidFill>
              </a:rPr>
              <a:t>=</a:t>
            </a:r>
            <a:r>
              <a:rPr lang="en-US" sz="1200" dirty="0" err="1">
                <a:solidFill>
                  <a:srgbClr val="00B0F0"/>
                </a:solidFill>
              </a:rPr>
              <a:t>ot.customer_id</a:t>
            </a:r>
            <a:r>
              <a:rPr lang="en-US" sz="1200" dirty="0">
                <a:solidFill>
                  <a:srgbClr val="00B0F0"/>
                </a:solidFill>
              </a:rPr>
              <a:t> where </a:t>
            </a:r>
            <a:r>
              <a:rPr lang="en-US" sz="1200" dirty="0" err="1">
                <a:solidFill>
                  <a:srgbClr val="00B0F0"/>
                </a:solidFill>
              </a:rPr>
              <a:t>ot.order_status</a:t>
            </a:r>
            <a:r>
              <a:rPr lang="en-US" sz="1200" dirty="0">
                <a:solidFill>
                  <a:srgbClr val="00B0F0"/>
                </a:solidFill>
              </a:rPr>
              <a:t> not in ('</a:t>
            </a:r>
            <a:r>
              <a:rPr lang="en-US" sz="1200" dirty="0" err="1">
                <a:solidFill>
                  <a:srgbClr val="00B0F0"/>
                </a:solidFill>
              </a:rPr>
              <a:t>Canceled','Unavailable</a:t>
            </a:r>
            <a:r>
              <a:rPr lang="en-US" sz="1200" dirty="0">
                <a:solidFill>
                  <a:srgbClr val="00B0F0"/>
                </a:solidFill>
              </a:rPr>
              <a:t>')GROUP BY </a:t>
            </a:r>
            <a:r>
              <a:rPr lang="en-US" sz="1200" dirty="0" err="1">
                <a:solidFill>
                  <a:srgbClr val="00B0F0"/>
                </a:solidFill>
              </a:rPr>
              <a:t>customer_state</a:t>
            </a:r>
            <a:r>
              <a:rPr lang="en-US" sz="1200" dirty="0">
                <a:solidFill>
                  <a:srgbClr val="00B0F0"/>
                </a:solidFill>
              </a:rPr>
              <a:t> order by </a:t>
            </a:r>
            <a:r>
              <a:rPr lang="en-US" sz="1200" dirty="0" err="1">
                <a:solidFill>
                  <a:srgbClr val="00B0F0"/>
                </a:solidFill>
              </a:rPr>
              <a:t>total_customers</a:t>
            </a:r>
            <a:r>
              <a:rPr lang="en-US" sz="1200" dirty="0">
                <a:solidFill>
                  <a:srgbClr val="00B0F0"/>
                </a:solidFill>
              </a:rPr>
              <a:t> desc limit 10</a:t>
            </a:r>
            <a:endParaRPr lang="en-IN" sz="1200" dirty="0">
              <a:solidFill>
                <a:srgbClr val="00B0F0"/>
              </a:solidFill>
            </a:endParaRPr>
          </a:p>
        </p:txBody>
      </p:sp>
      <p:sp>
        <p:nvSpPr>
          <p:cNvPr id="9" name="Rectangle 8">
            <a:extLst>
              <a:ext uri="{FF2B5EF4-FFF2-40B4-BE49-F238E27FC236}">
                <a16:creationId xmlns:a16="http://schemas.microsoft.com/office/drawing/2014/main" id="{3D00EBA1-0B88-6177-5B82-DB6058B5296C}"/>
              </a:ext>
            </a:extLst>
          </p:cNvPr>
          <p:cNvSpPr/>
          <p:nvPr/>
        </p:nvSpPr>
        <p:spPr>
          <a:xfrm>
            <a:off x="130629" y="4183434"/>
            <a:ext cx="4710317" cy="2014999"/>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x2=top10_state['</a:t>
            </a:r>
            <a:r>
              <a:rPr lang="en-US" sz="1200" dirty="0" err="1">
                <a:solidFill>
                  <a:srgbClr val="00B0F0"/>
                </a:solidFill>
              </a:rPr>
              <a:t>customer_state</a:t>
            </a:r>
            <a:r>
              <a:rPr lang="en-US" sz="1200" dirty="0">
                <a:solidFill>
                  <a:srgbClr val="00B0F0"/>
                </a:solidFill>
              </a:rPr>
              <a:t>']</a:t>
            </a:r>
          </a:p>
          <a:p>
            <a:r>
              <a:rPr lang="en-US" sz="1200" dirty="0">
                <a:solidFill>
                  <a:srgbClr val="00B0F0"/>
                </a:solidFill>
              </a:rPr>
              <a:t>y2=top10_state['</a:t>
            </a:r>
            <a:r>
              <a:rPr lang="en-US" sz="1200" dirty="0" err="1">
                <a:solidFill>
                  <a:srgbClr val="00B0F0"/>
                </a:solidFill>
              </a:rPr>
              <a:t>total_customers</a:t>
            </a:r>
            <a:r>
              <a:rPr lang="en-US" sz="1200" dirty="0">
                <a:solidFill>
                  <a:srgbClr val="00B0F0"/>
                </a:solidFill>
              </a:rPr>
              <a:t>']</a:t>
            </a:r>
          </a:p>
          <a:p>
            <a:r>
              <a:rPr lang="en-US" sz="1200" dirty="0" err="1">
                <a:solidFill>
                  <a:srgbClr val="00B0F0"/>
                </a:solidFill>
              </a:rPr>
              <a:t>plt.figure</a:t>
            </a:r>
            <a:r>
              <a:rPr lang="en-US" sz="1200" dirty="0">
                <a:solidFill>
                  <a:srgbClr val="00B0F0"/>
                </a:solidFill>
              </a:rPr>
              <a:t>(</a:t>
            </a:r>
            <a:r>
              <a:rPr lang="en-US" sz="1200" dirty="0" err="1">
                <a:solidFill>
                  <a:srgbClr val="00B0F0"/>
                </a:solidFill>
              </a:rPr>
              <a:t>figsize</a:t>
            </a:r>
            <a:r>
              <a:rPr lang="en-US" sz="1200" dirty="0">
                <a:solidFill>
                  <a:srgbClr val="00B0F0"/>
                </a:solidFill>
              </a:rPr>
              <a:t>=(10,3))</a:t>
            </a:r>
          </a:p>
          <a:p>
            <a:r>
              <a:rPr lang="en-US" sz="1200" dirty="0" err="1">
                <a:solidFill>
                  <a:srgbClr val="00B0F0"/>
                </a:solidFill>
              </a:rPr>
              <a:t>plt.bar</a:t>
            </a:r>
            <a:r>
              <a:rPr lang="en-US" sz="1200" dirty="0">
                <a:solidFill>
                  <a:srgbClr val="00B0F0"/>
                </a:solidFill>
              </a:rPr>
              <a:t>(x2,y2,color='</a:t>
            </a:r>
            <a:r>
              <a:rPr lang="en-US" sz="1200" dirty="0" err="1">
                <a:solidFill>
                  <a:srgbClr val="00B0F0"/>
                </a:solidFill>
              </a:rPr>
              <a:t>y',width</a:t>
            </a:r>
            <a:r>
              <a:rPr lang="en-US" sz="1200" dirty="0">
                <a:solidFill>
                  <a:srgbClr val="00B0F0"/>
                </a:solidFill>
              </a:rPr>
              <a:t>=0.8, </a:t>
            </a:r>
            <a:r>
              <a:rPr lang="en-US" sz="1200" dirty="0" err="1">
                <a:solidFill>
                  <a:srgbClr val="00B0F0"/>
                </a:solidFill>
              </a:rPr>
              <a:t>edgecolor</a:t>
            </a:r>
            <a:r>
              <a:rPr lang="en-US" sz="1200" dirty="0">
                <a:solidFill>
                  <a:srgbClr val="00B0F0"/>
                </a:solidFill>
              </a:rPr>
              <a:t>="</a:t>
            </a:r>
            <a:r>
              <a:rPr lang="en-US" sz="1200" dirty="0" err="1">
                <a:solidFill>
                  <a:srgbClr val="00B0F0"/>
                </a:solidFill>
              </a:rPr>
              <a:t>white",linewidth</a:t>
            </a:r>
            <a:r>
              <a:rPr lang="en-US" sz="1200" dirty="0">
                <a:solidFill>
                  <a:srgbClr val="00B0F0"/>
                </a:solidFill>
              </a:rPr>
              <a:t>=0.7)</a:t>
            </a:r>
          </a:p>
          <a:p>
            <a:r>
              <a:rPr lang="en-US" sz="1200" dirty="0" err="1">
                <a:solidFill>
                  <a:srgbClr val="00B0F0"/>
                </a:solidFill>
              </a:rPr>
              <a:t>plt.title</a:t>
            </a:r>
            <a:r>
              <a:rPr lang="en-US" sz="1200" dirty="0">
                <a:solidFill>
                  <a:srgbClr val="00B0F0"/>
                </a:solidFill>
              </a:rPr>
              <a:t>('top10 customer')</a:t>
            </a:r>
          </a:p>
          <a:p>
            <a:r>
              <a:rPr lang="en-US" sz="1200" dirty="0" err="1">
                <a:solidFill>
                  <a:srgbClr val="00B0F0"/>
                </a:solidFill>
              </a:rPr>
              <a:t>plt.xlabel</a:t>
            </a:r>
            <a:r>
              <a:rPr lang="en-US" sz="1200" dirty="0">
                <a:solidFill>
                  <a:srgbClr val="00B0F0"/>
                </a:solidFill>
              </a:rPr>
              <a:t>('</a:t>
            </a:r>
            <a:r>
              <a:rPr lang="en-US" sz="1200" dirty="0" err="1">
                <a:solidFill>
                  <a:srgbClr val="00B0F0"/>
                </a:solidFill>
              </a:rPr>
              <a:t>state_name</a:t>
            </a:r>
            <a:r>
              <a:rPr lang="en-US" sz="1200" dirty="0">
                <a:solidFill>
                  <a:srgbClr val="00B0F0"/>
                </a:solidFill>
              </a:rPr>
              <a:t>')</a:t>
            </a:r>
          </a:p>
          <a:p>
            <a:r>
              <a:rPr lang="en-US" sz="1200" dirty="0" err="1">
                <a:solidFill>
                  <a:srgbClr val="00B0F0"/>
                </a:solidFill>
              </a:rPr>
              <a:t>plt.ylabel</a:t>
            </a:r>
            <a:r>
              <a:rPr lang="en-US" sz="1200" dirty="0">
                <a:solidFill>
                  <a:srgbClr val="00B0F0"/>
                </a:solidFill>
              </a:rPr>
              <a:t>('customer')</a:t>
            </a:r>
          </a:p>
          <a:p>
            <a:r>
              <a:rPr lang="en-US" sz="1200" dirty="0" err="1">
                <a:solidFill>
                  <a:srgbClr val="00B0F0"/>
                </a:solidFill>
              </a:rPr>
              <a:t>plt.show</a:t>
            </a:r>
            <a:r>
              <a:rPr lang="en-US" sz="1200" dirty="0">
                <a:solidFill>
                  <a:srgbClr val="00B0F0"/>
                </a:solidFill>
              </a:rPr>
              <a:t>()</a:t>
            </a:r>
          </a:p>
        </p:txBody>
      </p:sp>
    </p:spTree>
    <p:extLst>
      <p:ext uri="{BB962C8B-B14F-4D97-AF65-F5344CB8AC3E}">
        <p14:creationId xmlns:p14="http://schemas.microsoft.com/office/powerpoint/2010/main" val="482718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754C83-BB90-F20D-3AAF-BC8C21CA4C59}"/>
              </a:ext>
            </a:extLst>
          </p:cNvPr>
          <p:cNvSpPr txBox="1"/>
          <p:nvPr/>
        </p:nvSpPr>
        <p:spPr>
          <a:xfrm>
            <a:off x="213360" y="135374"/>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Intermediate Problem</a:t>
            </a:r>
            <a:endParaRPr lang="en-IN" dirty="0"/>
          </a:p>
        </p:txBody>
      </p:sp>
      <p:sp>
        <p:nvSpPr>
          <p:cNvPr id="5" name="TextBox 4">
            <a:extLst>
              <a:ext uri="{FF2B5EF4-FFF2-40B4-BE49-F238E27FC236}">
                <a16:creationId xmlns:a16="http://schemas.microsoft.com/office/drawing/2014/main" id="{C9B53E13-33EF-8CCA-2F9C-109E70D5C92B}"/>
              </a:ext>
            </a:extLst>
          </p:cNvPr>
          <p:cNvSpPr txBox="1"/>
          <p:nvPr/>
        </p:nvSpPr>
        <p:spPr>
          <a:xfrm>
            <a:off x="807720" y="866894"/>
            <a:ext cx="609600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Calculate the number of orders per month in 2018.</a:t>
            </a:r>
            <a:endParaRPr lang="en-IN" dirty="0"/>
          </a:p>
        </p:txBody>
      </p:sp>
      <p:sp>
        <p:nvSpPr>
          <p:cNvPr id="9" name="TextBox 8">
            <a:extLst>
              <a:ext uri="{FF2B5EF4-FFF2-40B4-BE49-F238E27FC236}">
                <a16:creationId xmlns:a16="http://schemas.microsoft.com/office/drawing/2014/main" id="{1FC6E5F0-673F-F5EA-348F-852E91F71FDB}"/>
              </a:ext>
            </a:extLst>
          </p:cNvPr>
          <p:cNvSpPr txBox="1"/>
          <p:nvPr/>
        </p:nvSpPr>
        <p:spPr>
          <a:xfrm>
            <a:off x="60960" y="866894"/>
            <a:ext cx="609600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15" name="Picture 14">
            <a:extLst>
              <a:ext uri="{FF2B5EF4-FFF2-40B4-BE49-F238E27FC236}">
                <a16:creationId xmlns:a16="http://schemas.microsoft.com/office/drawing/2014/main" id="{88BF279F-8A0D-E1D2-7F56-146B1B2A2E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59" y="1410593"/>
            <a:ext cx="3807097" cy="2636520"/>
          </a:xfrm>
          <a:prstGeom prst="rect">
            <a:avLst/>
          </a:prstGeom>
        </p:spPr>
      </p:pic>
      <p:pic>
        <p:nvPicPr>
          <p:cNvPr id="17" name="Picture 16">
            <a:extLst>
              <a:ext uri="{FF2B5EF4-FFF2-40B4-BE49-F238E27FC236}">
                <a16:creationId xmlns:a16="http://schemas.microsoft.com/office/drawing/2014/main" id="{5CF6C41F-5C6F-6629-E7E0-4518B2855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7657" y="4047113"/>
            <a:ext cx="6444343" cy="2810887"/>
          </a:xfrm>
          <a:prstGeom prst="rect">
            <a:avLst/>
          </a:prstGeom>
        </p:spPr>
      </p:pic>
      <p:sp>
        <p:nvSpPr>
          <p:cNvPr id="6" name="Rectangle 5">
            <a:extLst>
              <a:ext uri="{FF2B5EF4-FFF2-40B4-BE49-F238E27FC236}">
                <a16:creationId xmlns:a16="http://schemas.microsoft.com/office/drawing/2014/main" id="{244ACAE3-6ECA-3A63-F462-B02FE743B4C5}"/>
              </a:ext>
            </a:extLst>
          </p:cNvPr>
          <p:cNvSpPr/>
          <p:nvPr/>
        </p:nvSpPr>
        <p:spPr>
          <a:xfrm>
            <a:off x="213359" y="4221480"/>
            <a:ext cx="4710317" cy="2280920"/>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x3=</a:t>
            </a:r>
            <a:r>
              <a:rPr lang="en-US" sz="1200" dirty="0" err="1">
                <a:solidFill>
                  <a:srgbClr val="00B0F0"/>
                </a:solidFill>
              </a:rPr>
              <a:t>per_month_orders</a:t>
            </a:r>
            <a:r>
              <a:rPr lang="en-US" sz="1200" dirty="0">
                <a:solidFill>
                  <a:srgbClr val="00B0F0"/>
                </a:solidFill>
              </a:rPr>
              <a:t>['Month']</a:t>
            </a:r>
          </a:p>
          <a:p>
            <a:r>
              <a:rPr lang="en-US" sz="1200" dirty="0">
                <a:solidFill>
                  <a:srgbClr val="00B0F0"/>
                </a:solidFill>
              </a:rPr>
              <a:t>y3=</a:t>
            </a:r>
            <a:r>
              <a:rPr lang="en-US" sz="1200" dirty="0" err="1">
                <a:solidFill>
                  <a:srgbClr val="00B0F0"/>
                </a:solidFill>
              </a:rPr>
              <a:t>per_month_orders</a:t>
            </a:r>
            <a:r>
              <a:rPr lang="en-US" sz="1200" dirty="0">
                <a:solidFill>
                  <a:srgbClr val="00B0F0"/>
                </a:solidFill>
              </a:rPr>
              <a:t>['Total_orders_2018']</a:t>
            </a:r>
          </a:p>
          <a:p>
            <a:r>
              <a:rPr lang="en-US" sz="1200" dirty="0" err="1">
                <a:solidFill>
                  <a:srgbClr val="00B0F0"/>
                </a:solidFill>
              </a:rPr>
              <a:t>plt.figure</a:t>
            </a:r>
            <a:r>
              <a:rPr lang="en-US" sz="1200" dirty="0">
                <a:solidFill>
                  <a:srgbClr val="00B0F0"/>
                </a:solidFill>
              </a:rPr>
              <a:t>(</a:t>
            </a:r>
            <a:r>
              <a:rPr lang="en-US" sz="1200" dirty="0" err="1">
                <a:solidFill>
                  <a:srgbClr val="00B0F0"/>
                </a:solidFill>
              </a:rPr>
              <a:t>figsize</a:t>
            </a:r>
            <a:r>
              <a:rPr lang="en-US" sz="1200" dirty="0">
                <a:solidFill>
                  <a:srgbClr val="00B0F0"/>
                </a:solidFill>
              </a:rPr>
              <a:t>=(10,3))</a:t>
            </a:r>
          </a:p>
          <a:p>
            <a:r>
              <a:rPr lang="en-US" sz="1200" dirty="0" err="1">
                <a:solidFill>
                  <a:srgbClr val="00B0F0"/>
                </a:solidFill>
              </a:rPr>
              <a:t>plt.plot</a:t>
            </a:r>
            <a:r>
              <a:rPr lang="en-US" sz="1200" dirty="0">
                <a:solidFill>
                  <a:srgbClr val="00B0F0"/>
                </a:solidFill>
              </a:rPr>
              <a:t>(x3,y3,color='</a:t>
            </a:r>
            <a:r>
              <a:rPr lang="en-US" sz="1200" dirty="0" err="1">
                <a:solidFill>
                  <a:srgbClr val="00B0F0"/>
                </a:solidFill>
              </a:rPr>
              <a:t>g',marker</a:t>
            </a:r>
            <a:r>
              <a:rPr lang="en-US" sz="1200" dirty="0">
                <a:solidFill>
                  <a:srgbClr val="00B0F0"/>
                </a:solidFill>
              </a:rPr>
              <a:t>='o',</a:t>
            </a:r>
            <a:r>
              <a:rPr lang="en-US" sz="1200" dirty="0" err="1">
                <a:solidFill>
                  <a:srgbClr val="00B0F0"/>
                </a:solidFill>
              </a:rPr>
              <a:t>markersize</a:t>
            </a:r>
            <a:r>
              <a:rPr lang="en-US" sz="1200" dirty="0">
                <a:solidFill>
                  <a:srgbClr val="00B0F0"/>
                </a:solidFill>
              </a:rPr>
              <a:t>=10)</a:t>
            </a:r>
          </a:p>
          <a:p>
            <a:r>
              <a:rPr lang="en-US" sz="1200" dirty="0" err="1">
                <a:solidFill>
                  <a:srgbClr val="00B0F0"/>
                </a:solidFill>
              </a:rPr>
              <a:t>plt.ylim</a:t>
            </a:r>
            <a:r>
              <a:rPr lang="en-US" sz="1200" dirty="0">
                <a:solidFill>
                  <a:srgbClr val="00B0F0"/>
                </a:solidFill>
              </a:rPr>
              <a:t>(0,10000)</a:t>
            </a:r>
          </a:p>
          <a:p>
            <a:r>
              <a:rPr lang="en-US" sz="1200" dirty="0" err="1">
                <a:solidFill>
                  <a:srgbClr val="00B0F0"/>
                </a:solidFill>
              </a:rPr>
              <a:t>plt.title</a:t>
            </a:r>
            <a:r>
              <a:rPr lang="en-US" sz="1200" dirty="0">
                <a:solidFill>
                  <a:srgbClr val="00B0F0"/>
                </a:solidFill>
              </a:rPr>
              <a:t>('Monthly Purchase Trend(2018)')</a:t>
            </a:r>
          </a:p>
          <a:p>
            <a:r>
              <a:rPr lang="en-US" sz="1200" dirty="0" err="1">
                <a:solidFill>
                  <a:srgbClr val="00B0F0"/>
                </a:solidFill>
              </a:rPr>
              <a:t>plt.xlabel</a:t>
            </a:r>
            <a:r>
              <a:rPr lang="en-US" sz="1200" dirty="0">
                <a:solidFill>
                  <a:srgbClr val="00B0F0"/>
                </a:solidFill>
              </a:rPr>
              <a:t>('Month')</a:t>
            </a:r>
          </a:p>
          <a:p>
            <a:r>
              <a:rPr lang="en-US" sz="1200" dirty="0" err="1">
                <a:solidFill>
                  <a:srgbClr val="00B0F0"/>
                </a:solidFill>
              </a:rPr>
              <a:t>plt.ylabel</a:t>
            </a:r>
            <a:r>
              <a:rPr lang="en-US" sz="1200" dirty="0">
                <a:solidFill>
                  <a:srgbClr val="00B0F0"/>
                </a:solidFill>
              </a:rPr>
              <a:t>('Total Orders')</a:t>
            </a:r>
          </a:p>
          <a:p>
            <a:r>
              <a:rPr lang="en-US" sz="1200" dirty="0" err="1">
                <a:solidFill>
                  <a:srgbClr val="00B0F0"/>
                </a:solidFill>
              </a:rPr>
              <a:t>plt.tick_params</a:t>
            </a:r>
            <a:r>
              <a:rPr lang="en-US" sz="1200" dirty="0">
                <a:solidFill>
                  <a:srgbClr val="00B0F0"/>
                </a:solidFill>
              </a:rPr>
              <a:t>(axis='x')</a:t>
            </a:r>
          </a:p>
          <a:p>
            <a:r>
              <a:rPr lang="en-US" sz="1200" dirty="0" err="1">
                <a:solidFill>
                  <a:srgbClr val="00B0F0"/>
                </a:solidFill>
              </a:rPr>
              <a:t>plt.tight_layout</a:t>
            </a:r>
            <a:r>
              <a:rPr lang="en-US" sz="1200" dirty="0">
                <a:solidFill>
                  <a:srgbClr val="00B0F0"/>
                </a:solidFill>
              </a:rPr>
              <a:t>()</a:t>
            </a:r>
          </a:p>
          <a:p>
            <a:r>
              <a:rPr lang="en-US" sz="1200" dirty="0" err="1">
                <a:solidFill>
                  <a:srgbClr val="00B0F0"/>
                </a:solidFill>
              </a:rPr>
              <a:t>plt.show</a:t>
            </a:r>
            <a:r>
              <a:rPr lang="en-US" sz="1200" dirty="0">
                <a:solidFill>
                  <a:srgbClr val="00B0F0"/>
                </a:solidFill>
              </a:rPr>
              <a:t>()</a:t>
            </a:r>
          </a:p>
        </p:txBody>
      </p:sp>
      <p:sp>
        <p:nvSpPr>
          <p:cNvPr id="7" name="Rectangle 6">
            <a:extLst>
              <a:ext uri="{FF2B5EF4-FFF2-40B4-BE49-F238E27FC236}">
                <a16:creationId xmlns:a16="http://schemas.microsoft.com/office/drawing/2014/main" id="{9C7E7CD5-0D6E-E1A8-628F-52458C452D64}"/>
              </a:ext>
            </a:extLst>
          </p:cNvPr>
          <p:cNvSpPr/>
          <p:nvPr/>
        </p:nvSpPr>
        <p:spPr>
          <a:xfrm>
            <a:off x="5747657" y="1414001"/>
            <a:ext cx="4107543" cy="2156513"/>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p>
          <a:p>
            <a:r>
              <a:rPr lang="en-US" sz="1200" dirty="0">
                <a:solidFill>
                  <a:srgbClr val="00B0F0"/>
                </a:solidFill>
              </a:rPr>
              <a:t> MONTHNAME(</a:t>
            </a:r>
            <a:r>
              <a:rPr lang="en-US" sz="1200" dirty="0" err="1">
                <a:solidFill>
                  <a:srgbClr val="00B0F0"/>
                </a:solidFill>
              </a:rPr>
              <a:t>order_purchase_date</a:t>
            </a:r>
            <a:r>
              <a:rPr lang="en-US" sz="1200" dirty="0">
                <a:solidFill>
                  <a:srgbClr val="00B0F0"/>
                </a:solidFill>
              </a:rPr>
              <a:t>) AS </a:t>
            </a:r>
            <a:r>
              <a:rPr lang="en-US" sz="1200" dirty="0" err="1">
                <a:solidFill>
                  <a:srgbClr val="00B0F0"/>
                </a:solidFill>
              </a:rPr>
              <a:t>month_name</a:t>
            </a:r>
            <a:r>
              <a:rPr lang="en-US" sz="1200" dirty="0">
                <a:solidFill>
                  <a:srgbClr val="00B0F0"/>
                </a:solidFill>
              </a:rPr>
              <a:t>,    COUNT(DISTINCT (</a:t>
            </a:r>
            <a:r>
              <a:rPr lang="en-US" sz="1200" dirty="0" err="1">
                <a:solidFill>
                  <a:srgbClr val="00B0F0"/>
                </a:solidFill>
              </a:rPr>
              <a:t>order_id</a:t>
            </a:r>
            <a:r>
              <a:rPr lang="en-US" sz="1200" dirty="0">
                <a:solidFill>
                  <a:srgbClr val="00B0F0"/>
                </a:solidFill>
              </a:rPr>
              <a:t>)) AS </a:t>
            </a:r>
            <a:r>
              <a:rPr lang="en-US" sz="1200" dirty="0" err="1">
                <a:solidFill>
                  <a:srgbClr val="00B0F0"/>
                </a:solidFill>
              </a:rPr>
              <a:t>total_orders</a:t>
            </a:r>
            <a:endParaRPr lang="en-US" sz="1200" dirty="0">
              <a:solidFill>
                <a:srgbClr val="00B0F0"/>
              </a:solidFill>
            </a:endParaRPr>
          </a:p>
          <a:p>
            <a:r>
              <a:rPr lang="en-US" sz="1200" dirty="0">
                <a:solidFill>
                  <a:srgbClr val="00B0F0"/>
                </a:solidFill>
              </a:rPr>
              <a:t>FROM    </a:t>
            </a:r>
            <a:r>
              <a:rPr lang="en-US" sz="1200" dirty="0" err="1">
                <a:solidFill>
                  <a:srgbClr val="00B0F0"/>
                </a:solidFill>
              </a:rPr>
              <a:t>orders_table</a:t>
            </a:r>
            <a:r>
              <a:rPr lang="en-US" sz="1200" dirty="0">
                <a:solidFill>
                  <a:srgbClr val="00B0F0"/>
                </a:solidFill>
              </a:rPr>
              <a:t>    where year(</a:t>
            </a:r>
            <a:r>
              <a:rPr lang="en-US" sz="1200" dirty="0" err="1">
                <a:solidFill>
                  <a:srgbClr val="00B0F0"/>
                </a:solidFill>
              </a:rPr>
              <a:t>order_purchase_date</a:t>
            </a:r>
            <a:r>
              <a:rPr lang="en-US" sz="1200" dirty="0">
                <a:solidFill>
                  <a:srgbClr val="00B0F0"/>
                </a:solidFill>
              </a:rPr>
              <a:t>)=2018 and </a:t>
            </a:r>
            <a:r>
              <a:rPr lang="en-US" sz="1200" dirty="0" err="1">
                <a:solidFill>
                  <a:srgbClr val="00B0F0"/>
                </a:solidFill>
              </a:rPr>
              <a:t>order_status</a:t>
            </a:r>
            <a:r>
              <a:rPr lang="en-US" sz="1200" dirty="0">
                <a:solidFill>
                  <a:srgbClr val="00B0F0"/>
                </a:solidFill>
              </a:rPr>
              <a:t> not in ('</a:t>
            </a:r>
            <a:r>
              <a:rPr lang="en-US" sz="1200" dirty="0" err="1">
                <a:solidFill>
                  <a:srgbClr val="00B0F0"/>
                </a:solidFill>
              </a:rPr>
              <a:t>Canceled','Unavailable</a:t>
            </a:r>
            <a:r>
              <a:rPr lang="en-US" sz="1200" dirty="0">
                <a:solidFill>
                  <a:srgbClr val="00B0F0"/>
                </a:solidFill>
              </a:rPr>
              <a:t>’)</a:t>
            </a:r>
          </a:p>
          <a:p>
            <a:r>
              <a:rPr lang="en-US" sz="1200" dirty="0">
                <a:solidFill>
                  <a:srgbClr val="00B0F0"/>
                </a:solidFill>
              </a:rPr>
              <a:t>GROUP BY </a:t>
            </a:r>
            <a:r>
              <a:rPr lang="en-US" sz="1200" dirty="0" err="1">
                <a:solidFill>
                  <a:srgbClr val="00B0F0"/>
                </a:solidFill>
              </a:rPr>
              <a:t>month_name</a:t>
            </a:r>
            <a:r>
              <a:rPr lang="en-US" sz="1200" dirty="0">
                <a:solidFill>
                  <a:srgbClr val="00B0F0"/>
                </a:solidFill>
              </a:rPr>
              <a:t> , MONTH(</a:t>
            </a:r>
            <a:r>
              <a:rPr lang="en-US" sz="1200" dirty="0" err="1">
                <a:solidFill>
                  <a:srgbClr val="00B0F0"/>
                </a:solidFill>
              </a:rPr>
              <a:t>order_purchase_date</a:t>
            </a:r>
            <a:r>
              <a:rPr lang="en-US" sz="1200" dirty="0">
                <a:solidFill>
                  <a:srgbClr val="00B0F0"/>
                </a:solidFill>
              </a:rPr>
              <a:t>)</a:t>
            </a:r>
          </a:p>
          <a:p>
            <a:r>
              <a:rPr lang="en-US" sz="1200" dirty="0">
                <a:solidFill>
                  <a:srgbClr val="00B0F0"/>
                </a:solidFill>
              </a:rPr>
              <a:t>ORDER BY MONTH(</a:t>
            </a:r>
            <a:r>
              <a:rPr lang="en-US" sz="1200" dirty="0" err="1">
                <a:solidFill>
                  <a:srgbClr val="00B0F0"/>
                </a:solidFill>
              </a:rPr>
              <a:t>order_purchase_date</a:t>
            </a:r>
            <a:r>
              <a:rPr lang="en-US" sz="1200" dirty="0">
                <a:solidFill>
                  <a:srgbClr val="00B0F0"/>
                </a:solidFill>
              </a:rPr>
              <a:t>)</a:t>
            </a:r>
          </a:p>
        </p:txBody>
      </p:sp>
    </p:spTree>
    <p:extLst>
      <p:ext uri="{BB962C8B-B14F-4D97-AF65-F5344CB8AC3E}">
        <p14:creationId xmlns:p14="http://schemas.microsoft.com/office/powerpoint/2010/main" val="2215760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0700E-5C1E-41D8-CFD1-49CAD21B64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7D0D83-AF6C-8FD5-6FB3-0BC193439C23}"/>
              </a:ext>
            </a:extLst>
          </p:cNvPr>
          <p:cNvSpPr txBox="1"/>
          <p:nvPr/>
        </p:nvSpPr>
        <p:spPr>
          <a:xfrm>
            <a:off x="213360" y="135374"/>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Intermediate Problem</a:t>
            </a:r>
            <a:endParaRPr lang="en-IN" dirty="0"/>
          </a:p>
        </p:txBody>
      </p:sp>
      <p:sp>
        <p:nvSpPr>
          <p:cNvPr id="5" name="TextBox 4">
            <a:extLst>
              <a:ext uri="{FF2B5EF4-FFF2-40B4-BE49-F238E27FC236}">
                <a16:creationId xmlns:a16="http://schemas.microsoft.com/office/drawing/2014/main" id="{9700B522-A22D-24B6-49A4-E493555EF8B8}"/>
              </a:ext>
            </a:extLst>
          </p:cNvPr>
          <p:cNvSpPr txBox="1"/>
          <p:nvPr/>
        </p:nvSpPr>
        <p:spPr>
          <a:xfrm>
            <a:off x="807720" y="866894"/>
            <a:ext cx="1002792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Find the average number of products per order, grouped by customer city.</a:t>
            </a:r>
            <a:endParaRPr lang="en-IN" dirty="0"/>
          </a:p>
        </p:txBody>
      </p:sp>
      <p:sp>
        <p:nvSpPr>
          <p:cNvPr id="4" name="TextBox 3">
            <a:extLst>
              <a:ext uri="{FF2B5EF4-FFF2-40B4-BE49-F238E27FC236}">
                <a16:creationId xmlns:a16="http://schemas.microsoft.com/office/drawing/2014/main" id="{B8B2B50E-0069-584A-2B91-702EE1365C61}"/>
              </a:ext>
            </a:extLst>
          </p:cNvPr>
          <p:cNvSpPr txBox="1"/>
          <p:nvPr/>
        </p:nvSpPr>
        <p:spPr>
          <a:xfrm>
            <a:off x="106680" y="866894"/>
            <a:ext cx="609600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7" name="Picture 6">
            <a:extLst>
              <a:ext uri="{FF2B5EF4-FFF2-40B4-BE49-F238E27FC236}">
                <a16:creationId xmlns:a16="http://schemas.microsoft.com/office/drawing/2014/main" id="{9B255D04-7368-F315-5280-D04E9BB0D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59" y="1453369"/>
            <a:ext cx="3676469" cy="2204231"/>
          </a:xfrm>
          <a:prstGeom prst="rect">
            <a:avLst/>
          </a:prstGeom>
        </p:spPr>
      </p:pic>
      <p:pic>
        <p:nvPicPr>
          <p:cNvPr id="11" name="Picture 10">
            <a:extLst>
              <a:ext uri="{FF2B5EF4-FFF2-40B4-BE49-F238E27FC236}">
                <a16:creationId xmlns:a16="http://schemas.microsoft.com/office/drawing/2014/main" id="{58F7A69B-ED72-8514-73F6-0C719BC620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4046" y="4034971"/>
            <a:ext cx="7217954" cy="2815008"/>
          </a:xfrm>
          <a:prstGeom prst="rect">
            <a:avLst/>
          </a:prstGeom>
        </p:spPr>
      </p:pic>
      <p:sp>
        <p:nvSpPr>
          <p:cNvPr id="2" name="Rectangle 1">
            <a:extLst>
              <a:ext uri="{FF2B5EF4-FFF2-40B4-BE49-F238E27FC236}">
                <a16:creationId xmlns:a16="http://schemas.microsoft.com/office/drawing/2014/main" id="{C9BB260F-43BF-F051-A86A-BF588F07E6DA}"/>
              </a:ext>
            </a:extLst>
          </p:cNvPr>
          <p:cNvSpPr/>
          <p:nvPr/>
        </p:nvSpPr>
        <p:spPr>
          <a:xfrm>
            <a:off x="5365931" y="1376680"/>
            <a:ext cx="4503784" cy="2280920"/>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city, ROUND(AVG(</a:t>
            </a:r>
            <a:r>
              <a:rPr lang="en-US" sz="1200" dirty="0" err="1">
                <a:solidFill>
                  <a:srgbClr val="00B0F0"/>
                </a:solidFill>
              </a:rPr>
              <a:t>order_qty</a:t>
            </a:r>
            <a:r>
              <a:rPr lang="en-US" sz="1200" dirty="0">
                <a:solidFill>
                  <a:srgbClr val="00B0F0"/>
                </a:solidFill>
              </a:rPr>
              <a:t>), 1) AS </a:t>
            </a:r>
            <a:r>
              <a:rPr lang="en-US" sz="1200" dirty="0" err="1">
                <a:solidFill>
                  <a:srgbClr val="00B0F0"/>
                </a:solidFill>
              </a:rPr>
              <a:t>per_order_qty</a:t>
            </a:r>
            <a:endParaRPr lang="en-US" sz="1200" dirty="0">
              <a:solidFill>
                <a:srgbClr val="00B0F0"/>
              </a:solidFill>
            </a:endParaRPr>
          </a:p>
          <a:p>
            <a:r>
              <a:rPr lang="en-US" sz="1200" dirty="0">
                <a:solidFill>
                  <a:srgbClr val="00B0F0"/>
                </a:solidFill>
              </a:rPr>
              <a:t>FROM    (SELECT         </a:t>
            </a:r>
            <a:r>
              <a:rPr lang="en-US" sz="1200" dirty="0" err="1">
                <a:solidFill>
                  <a:srgbClr val="00B0F0"/>
                </a:solidFill>
              </a:rPr>
              <a:t>c.customer_city</a:t>
            </a:r>
            <a:r>
              <a:rPr lang="en-US" sz="1200" dirty="0">
                <a:solidFill>
                  <a:srgbClr val="00B0F0"/>
                </a:solidFill>
              </a:rPr>
              <a:t> AS city,            </a:t>
            </a:r>
            <a:r>
              <a:rPr lang="en-US" sz="1200" dirty="0" err="1">
                <a:solidFill>
                  <a:srgbClr val="00B0F0"/>
                </a:solidFill>
              </a:rPr>
              <a:t>oi.order_id</a:t>
            </a:r>
            <a:r>
              <a:rPr lang="en-US" sz="1200" dirty="0">
                <a:solidFill>
                  <a:srgbClr val="00B0F0"/>
                </a:solidFill>
              </a:rPr>
              <a:t>,            COUNT(</a:t>
            </a:r>
            <a:r>
              <a:rPr lang="en-US" sz="1200" dirty="0" err="1">
                <a:solidFill>
                  <a:srgbClr val="00B0F0"/>
                </a:solidFill>
              </a:rPr>
              <a:t>oi.product_id</a:t>
            </a:r>
            <a:r>
              <a:rPr lang="en-US" sz="1200" dirty="0">
                <a:solidFill>
                  <a:srgbClr val="00B0F0"/>
                </a:solidFill>
              </a:rPr>
              <a:t>) AS </a:t>
            </a:r>
            <a:r>
              <a:rPr lang="en-US" sz="1200" dirty="0" err="1">
                <a:solidFill>
                  <a:srgbClr val="00B0F0"/>
                </a:solidFill>
              </a:rPr>
              <a:t>order_qty</a:t>
            </a:r>
            <a:r>
              <a:rPr lang="en-US" sz="1200" dirty="0">
                <a:solidFill>
                  <a:srgbClr val="00B0F0"/>
                </a:solidFill>
              </a:rPr>
              <a:t>   </a:t>
            </a:r>
          </a:p>
          <a:p>
            <a:r>
              <a:rPr lang="en-US" sz="1200" dirty="0">
                <a:solidFill>
                  <a:srgbClr val="00B0F0"/>
                </a:solidFill>
              </a:rPr>
              <a:t> FROM        </a:t>
            </a:r>
            <a:r>
              <a:rPr lang="en-US" sz="1200" dirty="0" err="1">
                <a:solidFill>
                  <a:srgbClr val="00B0F0"/>
                </a:solidFill>
              </a:rPr>
              <a:t>order_item</a:t>
            </a:r>
            <a:r>
              <a:rPr lang="en-US" sz="1200" dirty="0">
                <a:solidFill>
                  <a:srgbClr val="00B0F0"/>
                </a:solidFill>
              </a:rPr>
              <a:t> oi    </a:t>
            </a:r>
          </a:p>
          <a:p>
            <a:r>
              <a:rPr lang="en-US" sz="1200" dirty="0">
                <a:solidFill>
                  <a:srgbClr val="00B0F0"/>
                </a:solidFill>
              </a:rPr>
              <a:t>JOIN </a:t>
            </a:r>
            <a:r>
              <a:rPr lang="en-US" sz="1200" dirty="0" err="1">
                <a:solidFill>
                  <a:srgbClr val="00B0F0"/>
                </a:solidFill>
              </a:rPr>
              <a:t>orders_table</a:t>
            </a:r>
            <a:r>
              <a:rPr lang="en-US" sz="1200" dirty="0">
                <a:solidFill>
                  <a:srgbClr val="00B0F0"/>
                </a:solidFill>
              </a:rPr>
              <a:t> </a:t>
            </a:r>
            <a:r>
              <a:rPr lang="en-US" sz="1200" dirty="0" err="1">
                <a:solidFill>
                  <a:srgbClr val="00B0F0"/>
                </a:solidFill>
              </a:rPr>
              <a:t>ot</a:t>
            </a:r>
            <a:r>
              <a:rPr lang="en-US" sz="1200" dirty="0">
                <a:solidFill>
                  <a:srgbClr val="00B0F0"/>
                </a:solidFill>
              </a:rPr>
              <a:t> ON </a:t>
            </a:r>
            <a:r>
              <a:rPr lang="en-US" sz="1200" dirty="0" err="1">
                <a:solidFill>
                  <a:srgbClr val="00B0F0"/>
                </a:solidFill>
              </a:rPr>
              <a:t>oi.order_id</a:t>
            </a:r>
            <a:r>
              <a:rPr lang="en-US" sz="1200" dirty="0">
                <a:solidFill>
                  <a:srgbClr val="00B0F0"/>
                </a:solidFill>
              </a:rPr>
              <a:t> = </a:t>
            </a:r>
            <a:r>
              <a:rPr lang="en-US" sz="1200" dirty="0" err="1">
                <a:solidFill>
                  <a:srgbClr val="00B0F0"/>
                </a:solidFill>
              </a:rPr>
              <a:t>ot.order_id</a:t>
            </a:r>
            <a:r>
              <a:rPr lang="en-US" sz="1200" dirty="0">
                <a:solidFill>
                  <a:srgbClr val="00B0F0"/>
                </a:solidFill>
              </a:rPr>
              <a:t>    </a:t>
            </a:r>
          </a:p>
          <a:p>
            <a:r>
              <a:rPr lang="en-US" sz="1200" dirty="0">
                <a:solidFill>
                  <a:srgbClr val="00B0F0"/>
                </a:solidFill>
              </a:rPr>
              <a:t>JOIN customers c ON </a:t>
            </a:r>
            <a:r>
              <a:rPr lang="en-US" sz="1200" dirty="0" err="1">
                <a:solidFill>
                  <a:srgbClr val="00B0F0"/>
                </a:solidFill>
              </a:rPr>
              <a:t>ot.customer_id</a:t>
            </a:r>
            <a:r>
              <a:rPr lang="en-US" sz="1200" dirty="0">
                <a:solidFill>
                  <a:srgbClr val="00B0F0"/>
                </a:solidFill>
              </a:rPr>
              <a:t> = </a:t>
            </a:r>
            <a:r>
              <a:rPr lang="en-US" sz="1200" dirty="0" err="1">
                <a:solidFill>
                  <a:srgbClr val="00B0F0"/>
                </a:solidFill>
              </a:rPr>
              <a:t>c.customer_id</a:t>
            </a:r>
            <a:r>
              <a:rPr lang="en-US" sz="1200" dirty="0">
                <a:solidFill>
                  <a:srgbClr val="00B0F0"/>
                </a:solidFill>
              </a:rPr>
              <a:t>    </a:t>
            </a:r>
          </a:p>
          <a:p>
            <a:r>
              <a:rPr lang="en-US" sz="1200" dirty="0">
                <a:solidFill>
                  <a:srgbClr val="00B0F0"/>
                </a:solidFill>
              </a:rPr>
              <a:t>GROUP BY </a:t>
            </a:r>
            <a:r>
              <a:rPr lang="en-US" sz="1200" dirty="0" err="1">
                <a:solidFill>
                  <a:srgbClr val="00B0F0"/>
                </a:solidFill>
              </a:rPr>
              <a:t>c.customer_city</a:t>
            </a:r>
            <a:r>
              <a:rPr lang="en-US" sz="1200" dirty="0">
                <a:solidFill>
                  <a:srgbClr val="00B0F0"/>
                </a:solidFill>
              </a:rPr>
              <a:t> , </a:t>
            </a:r>
            <a:r>
              <a:rPr lang="en-US" sz="1200" dirty="0" err="1">
                <a:solidFill>
                  <a:srgbClr val="00B0F0"/>
                </a:solidFill>
              </a:rPr>
              <a:t>oi.order_id</a:t>
            </a:r>
            <a:r>
              <a:rPr lang="en-US" sz="1200" dirty="0">
                <a:solidFill>
                  <a:srgbClr val="00B0F0"/>
                </a:solidFill>
              </a:rPr>
              <a:t>) AS base1</a:t>
            </a:r>
          </a:p>
          <a:p>
            <a:r>
              <a:rPr lang="en-US" sz="1200" dirty="0">
                <a:solidFill>
                  <a:srgbClr val="00B0F0"/>
                </a:solidFill>
              </a:rPr>
              <a:t>GROUP BY city</a:t>
            </a:r>
          </a:p>
          <a:p>
            <a:r>
              <a:rPr lang="en-US" sz="1200" dirty="0">
                <a:solidFill>
                  <a:srgbClr val="00B0F0"/>
                </a:solidFill>
              </a:rPr>
              <a:t>ORDER BY </a:t>
            </a:r>
            <a:r>
              <a:rPr lang="en-US" sz="1200" dirty="0" err="1">
                <a:solidFill>
                  <a:srgbClr val="00B0F0"/>
                </a:solidFill>
              </a:rPr>
              <a:t>per_order_qty</a:t>
            </a:r>
            <a:r>
              <a:rPr lang="en-US" sz="1200" dirty="0">
                <a:solidFill>
                  <a:srgbClr val="00B0F0"/>
                </a:solidFill>
              </a:rPr>
              <a:t> DESC LIMIT 10</a:t>
            </a:r>
          </a:p>
        </p:txBody>
      </p:sp>
      <p:sp>
        <p:nvSpPr>
          <p:cNvPr id="6" name="Rectangle 5">
            <a:extLst>
              <a:ext uri="{FF2B5EF4-FFF2-40B4-BE49-F238E27FC236}">
                <a16:creationId xmlns:a16="http://schemas.microsoft.com/office/drawing/2014/main" id="{AB52863B-5E8A-2CAB-A02A-C27EC9ED4BBA}"/>
              </a:ext>
            </a:extLst>
          </p:cNvPr>
          <p:cNvSpPr/>
          <p:nvPr/>
        </p:nvSpPr>
        <p:spPr>
          <a:xfrm>
            <a:off x="213359" y="4441371"/>
            <a:ext cx="4710317" cy="17126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plt.figure</a:t>
            </a:r>
            <a:r>
              <a:rPr lang="en-US" sz="1200" dirty="0">
                <a:solidFill>
                  <a:srgbClr val="00B0F0"/>
                </a:solidFill>
              </a:rPr>
              <a:t>(</a:t>
            </a:r>
            <a:r>
              <a:rPr lang="en-US" sz="1200" dirty="0" err="1">
                <a:solidFill>
                  <a:srgbClr val="00B0F0"/>
                </a:solidFill>
              </a:rPr>
              <a:t>figsize</a:t>
            </a:r>
            <a:r>
              <a:rPr lang="en-US" sz="1200" dirty="0">
                <a:solidFill>
                  <a:srgbClr val="00B0F0"/>
                </a:solidFill>
              </a:rPr>
              <a:t>=(5,3))</a:t>
            </a:r>
          </a:p>
          <a:p>
            <a:r>
              <a:rPr lang="en-US" sz="1200" dirty="0" err="1">
                <a:solidFill>
                  <a:srgbClr val="00B0F0"/>
                </a:solidFill>
              </a:rPr>
              <a:t>sns.set_style</a:t>
            </a:r>
            <a:r>
              <a:rPr lang="en-US" sz="1200" dirty="0">
                <a:solidFill>
                  <a:srgbClr val="00B0F0"/>
                </a:solidFill>
              </a:rPr>
              <a:t>('ticks')</a:t>
            </a:r>
          </a:p>
          <a:p>
            <a:r>
              <a:rPr lang="en-US" sz="1200" dirty="0" err="1">
                <a:solidFill>
                  <a:srgbClr val="00B0F0"/>
                </a:solidFill>
              </a:rPr>
              <a:t>sns.set_context</a:t>
            </a:r>
            <a:r>
              <a:rPr lang="en-US" sz="1200" dirty="0">
                <a:solidFill>
                  <a:srgbClr val="00B0F0"/>
                </a:solidFill>
              </a:rPr>
              <a:t>('paper')</a:t>
            </a:r>
          </a:p>
          <a:p>
            <a:r>
              <a:rPr lang="en-US" sz="1200" dirty="0" err="1">
                <a:solidFill>
                  <a:srgbClr val="00B0F0"/>
                </a:solidFill>
              </a:rPr>
              <a:t>sns.barplot</a:t>
            </a:r>
            <a:r>
              <a:rPr lang="en-US" sz="1200" dirty="0">
                <a:solidFill>
                  <a:srgbClr val="00B0F0"/>
                </a:solidFill>
              </a:rPr>
              <a:t>(data=top10_city,x='</a:t>
            </a:r>
            <a:r>
              <a:rPr lang="en-US" sz="1200" dirty="0" err="1">
                <a:solidFill>
                  <a:srgbClr val="00B0F0"/>
                </a:solidFill>
              </a:rPr>
              <a:t>per_order_item',y</a:t>
            </a:r>
            <a:r>
              <a:rPr lang="en-US" sz="1200" dirty="0">
                <a:solidFill>
                  <a:srgbClr val="00B0F0"/>
                </a:solidFill>
              </a:rPr>
              <a:t>='</a:t>
            </a:r>
            <a:r>
              <a:rPr lang="en-US" sz="1200" dirty="0" err="1">
                <a:solidFill>
                  <a:srgbClr val="00B0F0"/>
                </a:solidFill>
              </a:rPr>
              <a:t>customer_city',alpha</a:t>
            </a:r>
            <a:r>
              <a:rPr lang="en-US" sz="1200" dirty="0">
                <a:solidFill>
                  <a:srgbClr val="00B0F0"/>
                </a:solidFill>
              </a:rPr>
              <a:t>=0.6,palette='plasma')</a:t>
            </a:r>
          </a:p>
        </p:txBody>
      </p:sp>
    </p:spTree>
    <p:extLst>
      <p:ext uri="{BB962C8B-B14F-4D97-AF65-F5344CB8AC3E}">
        <p14:creationId xmlns:p14="http://schemas.microsoft.com/office/powerpoint/2010/main" val="4163019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9095-1C0F-3E86-8F4D-6F42BA0876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2612A2-263E-5C7A-08DD-EBBB85C84889}"/>
              </a:ext>
            </a:extLst>
          </p:cNvPr>
          <p:cNvSpPr txBox="1"/>
          <p:nvPr/>
        </p:nvSpPr>
        <p:spPr>
          <a:xfrm>
            <a:off x="213360" y="135374"/>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Intermediate Problem</a:t>
            </a:r>
            <a:endParaRPr lang="en-IN" dirty="0"/>
          </a:p>
        </p:txBody>
      </p:sp>
      <p:sp>
        <p:nvSpPr>
          <p:cNvPr id="5" name="TextBox 4">
            <a:extLst>
              <a:ext uri="{FF2B5EF4-FFF2-40B4-BE49-F238E27FC236}">
                <a16:creationId xmlns:a16="http://schemas.microsoft.com/office/drawing/2014/main" id="{46253464-53D9-36F2-A0F6-AEC7B807954D}"/>
              </a:ext>
            </a:extLst>
          </p:cNvPr>
          <p:cNvSpPr txBox="1"/>
          <p:nvPr/>
        </p:nvSpPr>
        <p:spPr>
          <a:xfrm>
            <a:off x="807720" y="866894"/>
            <a:ext cx="1008888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Calculate the percentage of total revenue contributed by each product category.</a:t>
            </a:r>
            <a:endParaRPr lang="en-IN" dirty="0">
              <a:solidFill>
                <a:srgbClr val="26262F"/>
              </a:solidFill>
              <a:latin typeface="Arial" panose="020B0604020202020204" pitchFamily="34" charset="0"/>
            </a:endParaRPr>
          </a:p>
        </p:txBody>
      </p:sp>
      <p:sp>
        <p:nvSpPr>
          <p:cNvPr id="4" name="TextBox 3">
            <a:extLst>
              <a:ext uri="{FF2B5EF4-FFF2-40B4-BE49-F238E27FC236}">
                <a16:creationId xmlns:a16="http://schemas.microsoft.com/office/drawing/2014/main" id="{FCC36FE7-B176-2258-9B29-1F042A67A597}"/>
              </a:ext>
            </a:extLst>
          </p:cNvPr>
          <p:cNvSpPr txBox="1"/>
          <p:nvPr/>
        </p:nvSpPr>
        <p:spPr>
          <a:xfrm>
            <a:off x="106680" y="866894"/>
            <a:ext cx="609600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9" name="Picture 8">
            <a:extLst>
              <a:ext uri="{FF2B5EF4-FFF2-40B4-BE49-F238E27FC236}">
                <a16:creationId xmlns:a16="http://schemas.microsoft.com/office/drawing/2014/main" id="{78796955-F640-6E76-9826-1D62FD3B8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 y="1415280"/>
            <a:ext cx="3763554" cy="2358434"/>
          </a:xfrm>
          <a:prstGeom prst="rect">
            <a:avLst/>
          </a:prstGeom>
        </p:spPr>
      </p:pic>
      <p:pic>
        <p:nvPicPr>
          <p:cNvPr id="11" name="Picture 10">
            <a:extLst>
              <a:ext uri="{FF2B5EF4-FFF2-40B4-BE49-F238E27FC236}">
                <a16:creationId xmlns:a16="http://schemas.microsoft.com/office/drawing/2014/main" id="{D75BF884-51F5-22B1-99A7-45DA94A2A6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1542" y="3991429"/>
            <a:ext cx="6401525" cy="2550414"/>
          </a:xfrm>
          <a:prstGeom prst="rect">
            <a:avLst/>
          </a:prstGeom>
        </p:spPr>
      </p:pic>
      <p:sp>
        <p:nvSpPr>
          <p:cNvPr id="2" name="Rectangle 1">
            <a:extLst>
              <a:ext uri="{FF2B5EF4-FFF2-40B4-BE49-F238E27FC236}">
                <a16:creationId xmlns:a16="http://schemas.microsoft.com/office/drawing/2014/main" id="{D080790F-7323-622B-911C-BAC22A3E6675}"/>
              </a:ext>
            </a:extLst>
          </p:cNvPr>
          <p:cNvSpPr/>
          <p:nvPr/>
        </p:nvSpPr>
        <p:spPr>
          <a:xfrm>
            <a:off x="213359" y="3773714"/>
            <a:ext cx="4710317" cy="30842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100" dirty="0">
                <a:solidFill>
                  <a:srgbClr val="00B0F0"/>
                </a:solidFill>
              </a:rPr>
              <a:t>fig, ax1 = </a:t>
            </a:r>
            <a:r>
              <a:rPr lang="en-US" sz="1100" dirty="0" err="1">
                <a:solidFill>
                  <a:srgbClr val="00B0F0"/>
                </a:solidFill>
              </a:rPr>
              <a:t>plt.subplots</a:t>
            </a:r>
            <a:r>
              <a:rPr lang="en-US" sz="1100" dirty="0">
                <a:solidFill>
                  <a:srgbClr val="00B0F0"/>
                </a:solidFill>
              </a:rPr>
              <a:t>(</a:t>
            </a:r>
            <a:r>
              <a:rPr lang="en-US" sz="1100" dirty="0" err="1">
                <a:solidFill>
                  <a:srgbClr val="00B0F0"/>
                </a:solidFill>
              </a:rPr>
              <a:t>figsize</a:t>
            </a:r>
            <a:r>
              <a:rPr lang="en-US" sz="1100" dirty="0">
                <a:solidFill>
                  <a:srgbClr val="00B0F0"/>
                </a:solidFill>
              </a:rPr>
              <a:t>=(5,3))</a:t>
            </a:r>
          </a:p>
          <a:p>
            <a:endParaRPr lang="en-US" sz="1100" dirty="0">
              <a:solidFill>
                <a:srgbClr val="00B0F0"/>
              </a:solidFill>
            </a:endParaRPr>
          </a:p>
          <a:p>
            <a:r>
              <a:rPr lang="en-US" sz="1100" dirty="0">
                <a:solidFill>
                  <a:srgbClr val="00B0F0"/>
                </a:solidFill>
              </a:rPr>
              <a:t># First axis (Orders as bar)</a:t>
            </a:r>
          </a:p>
          <a:p>
            <a:r>
              <a:rPr lang="en-US" sz="1100" dirty="0">
                <a:solidFill>
                  <a:srgbClr val="00B0F0"/>
                </a:solidFill>
              </a:rPr>
              <a:t>ax1.bar(top10_category['</a:t>
            </a:r>
            <a:r>
              <a:rPr lang="en-US" sz="1100" dirty="0" err="1">
                <a:solidFill>
                  <a:srgbClr val="00B0F0"/>
                </a:solidFill>
              </a:rPr>
              <a:t>product_category</a:t>
            </a:r>
            <a:r>
              <a:rPr lang="en-US" sz="1100" dirty="0">
                <a:solidFill>
                  <a:srgbClr val="00B0F0"/>
                </a:solidFill>
              </a:rPr>
              <a:t>'],top10_category['</a:t>
            </a:r>
            <a:r>
              <a:rPr lang="en-US" sz="1100" dirty="0" err="1">
                <a:solidFill>
                  <a:srgbClr val="00B0F0"/>
                </a:solidFill>
              </a:rPr>
              <a:t>category_revenue</a:t>
            </a:r>
            <a:r>
              <a:rPr lang="en-US" sz="1100" dirty="0">
                <a:solidFill>
                  <a:srgbClr val="00B0F0"/>
                </a:solidFill>
              </a:rPr>
              <a:t>'], color='yellow', label='Revenue')</a:t>
            </a:r>
          </a:p>
          <a:p>
            <a:r>
              <a:rPr lang="en-US" sz="1100" dirty="0">
                <a:solidFill>
                  <a:srgbClr val="00B0F0"/>
                </a:solidFill>
              </a:rPr>
              <a:t>ax1.set_xlabel("Category")</a:t>
            </a:r>
          </a:p>
          <a:p>
            <a:r>
              <a:rPr lang="en-US" sz="1100" dirty="0">
                <a:solidFill>
                  <a:srgbClr val="00B0F0"/>
                </a:solidFill>
              </a:rPr>
              <a:t>ax1.set_ylabel("Revenue", color='blue')</a:t>
            </a:r>
          </a:p>
          <a:p>
            <a:r>
              <a:rPr lang="en-US" sz="1100" dirty="0">
                <a:solidFill>
                  <a:srgbClr val="00B0F0"/>
                </a:solidFill>
              </a:rPr>
              <a:t>ax2 = ax1.twinx()</a:t>
            </a:r>
          </a:p>
          <a:p>
            <a:r>
              <a:rPr lang="en-US" sz="1100" dirty="0">
                <a:solidFill>
                  <a:srgbClr val="00B0F0"/>
                </a:solidFill>
              </a:rPr>
              <a:t>ax2.plot(top10_category['</a:t>
            </a:r>
            <a:r>
              <a:rPr lang="en-US" sz="1100" dirty="0" err="1">
                <a:solidFill>
                  <a:srgbClr val="00B0F0"/>
                </a:solidFill>
              </a:rPr>
              <a:t>product_category</a:t>
            </a:r>
            <a:r>
              <a:rPr lang="en-US" sz="1100" dirty="0">
                <a:solidFill>
                  <a:srgbClr val="00B0F0"/>
                </a:solidFill>
              </a:rPr>
              <a:t>'],top10_category['</a:t>
            </a:r>
            <a:r>
              <a:rPr lang="en-US" sz="1100" dirty="0" err="1">
                <a:solidFill>
                  <a:srgbClr val="00B0F0"/>
                </a:solidFill>
              </a:rPr>
              <a:t>revenue_percent</a:t>
            </a:r>
            <a:r>
              <a:rPr lang="en-US" sz="1100" dirty="0">
                <a:solidFill>
                  <a:srgbClr val="00B0F0"/>
                </a:solidFill>
              </a:rPr>
              <a:t>'], color='green', marker='o', label='Revenue%')</a:t>
            </a:r>
          </a:p>
          <a:p>
            <a:r>
              <a:rPr lang="en-US" sz="1100" dirty="0">
                <a:solidFill>
                  <a:srgbClr val="00B0F0"/>
                </a:solidFill>
              </a:rPr>
              <a:t>ax2.set_ylabel("Revenue%", color='green')</a:t>
            </a:r>
          </a:p>
          <a:p>
            <a:r>
              <a:rPr lang="en-US" sz="1100" dirty="0" err="1">
                <a:solidFill>
                  <a:srgbClr val="00B0F0"/>
                </a:solidFill>
              </a:rPr>
              <a:t>plt.title</a:t>
            </a:r>
            <a:r>
              <a:rPr lang="en-US" sz="1100" dirty="0">
                <a:solidFill>
                  <a:srgbClr val="00B0F0"/>
                </a:solidFill>
              </a:rPr>
              <a:t>("Top10_Category_BY_Revenue")</a:t>
            </a:r>
          </a:p>
          <a:p>
            <a:r>
              <a:rPr lang="en-US" sz="1100" dirty="0" err="1">
                <a:solidFill>
                  <a:srgbClr val="00B0F0"/>
                </a:solidFill>
              </a:rPr>
              <a:t>plt.xticks</a:t>
            </a:r>
            <a:r>
              <a:rPr lang="en-US" sz="1100" dirty="0">
                <a:solidFill>
                  <a:srgbClr val="00B0F0"/>
                </a:solidFill>
              </a:rPr>
              <a:t>(rotation=90)</a:t>
            </a:r>
          </a:p>
          <a:p>
            <a:r>
              <a:rPr lang="en-US" sz="1100" dirty="0" err="1">
                <a:solidFill>
                  <a:srgbClr val="00B0F0"/>
                </a:solidFill>
              </a:rPr>
              <a:t>plt.grid</a:t>
            </a:r>
            <a:r>
              <a:rPr lang="en-US" sz="1100" dirty="0">
                <a:solidFill>
                  <a:srgbClr val="00B0F0"/>
                </a:solidFill>
              </a:rPr>
              <a:t>(True)</a:t>
            </a:r>
          </a:p>
          <a:p>
            <a:r>
              <a:rPr lang="en-US" sz="1100" dirty="0" err="1">
                <a:solidFill>
                  <a:srgbClr val="00B0F0"/>
                </a:solidFill>
              </a:rPr>
              <a:t>plt.legend</a:t>
            </a:r>
            <a:r>
              <a:rPr lang="en-US" sz="1100" dirty="0">
                <a:solidFill>
                  <a:srgbClr val="00B0F0"/>
                </a:solidFill>
              </a:rPr>
              <a:t>(loc='upper right')</a:t>
            </a:r>
          </a:p>
          <a:p>
            <a:r>
              <a:rPr lang="en-US" sz="1100" dirty="0" err="1">
                <a:solidFill>
                  <a:srgbClr val="00B0F0"/>
                </a:solidFill>
              </a:rPr>
              <a:t>plt.setp</a:t>
            </a:r>
            <a:r>
              <a:rPr lang="en-US" sz="1100" dirty="0">
                <a:solidFill>
                  <a:srgbClr val="00B0F0"/>
                </a:solidFill>
              </a:rPr>
              <a:t>(ax1.get_xticklabels(),rotation=60,ha='right')</a:t>
            </a:r>
          </a:p>
          <a:p>
            <a:r>
              <a:rPr lang="en-US" sz="1100" dirty="0" err="1">
                <a:solidFill>
                  <a:srgbClr val="00B0F0"/>
                </a:solidFill>
              </a:rPr>
              <a:t>plt.show</a:t>
            </a:r>
            <a:r>
              <a:rPr lang="en-US" sz="1100" dirty="0">
                <a:solidFill>
                  <a:srgbClr val="00B0F0"/>
                </a:solidFill>
              </a:rPr>
              <a:t>()’)S</a:t>
            </a:r>
          </a:p>
        </p:txBody>
      </p:sp>
      <p:sp>
        <p:nvSpPr>
          <p:cNvPr id="6" name="Rectangle 5">
            <a:extLst>
              <a:ext uri="{FF2B5EF4-FFF2-40B4-BE49-F238E27FC236}">
                <a16:creationId xmlns:a16="http://schemas.microsoft.com/office/drawing/2014/main" id="{4726E901-9330-8116-E8F9-524A8B22C6E6}"/>
              </a:ext>
            </a:extLst>
          </p:cNvPr>
          <p:cNvSpPr/>
          <p:nvPr/>
        </p:nvSpPr>
        <p:spPr>
          <a:xfrm>
            <a:off x="4923676" y="1415280"/>
            <a:ext cx="4710317" cy="2013720"/>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b="1" dirty="0">
                <a:latin typeface="Arial" panose="020B0604020202020204" pitchFamily="34" charset="0"/>
                <a:cs typeface="Arial" panose="020B0604020202020204" pitchFamily="34" charset="0"/>
              </a:rPr>
              <a:t>WITH </a:t>
            </a:r>
            <a:r>
              <a:rPr lang="en-US" sz="1200" b="1" dirty="0" err="1">
                <a:latin typeface="Arial" panose="020B0604020202020204" pitchFamily="34" charset="0"/>
                <a:cs typeface="Arial" panose="020B0604020202020204" pitchFamily="34" charset="0"/>
              </a:rPr>
              <a:t>revenue_by_category</a:t>
            </a:r>
            <a:r>
              <a:rPr lang="en-US" sz="1200" b="1" dirty="0">
                <a:latin typeface="Arial" panose="020B0604020202020204" pitchFamily="34" charset="0"/>
                <a:cs typeface="Arial" panose="020B0604020202020204" pitchFamily="34" charset="0"/>
              </a:rPr>
              <a:t> AS (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SELECT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p.product_category</a:t>
            </a:r>
            <a:r>
              <a:rPr lang="en-US" sz="1100" b="1" dirty="0">
                <a:solidFill>
                  <a:schemeClr val="accent1">
                    <a:lumMod val="60000"/>
                    <a:lumOff val="40000"/>
                  </a:schemeClr>
                </a:solidFill>
                <a:latin typeface="Arial" panose="020B0604020202020204" pitchFamily="34" charset="0"/>
                <a:cs typeface="Arial" panose="020B0604020202020204" pitchFamily="34" charset="0"/>
              </a:rPr>
              <a:t>, SUM(</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oi.price</a:t>
            </a:r>
            <a:r>
              <a:rPr lang="en-US" sz="1100" b="1" dirty="0">
                <a:solidFill>
                  <a:schemeClr val="accent1">
                    <a:lumMod val="60000"/>
                    <a:lumOff val="40000"/>
                  </a:schemeClr>
                </a:solidFill>
                <a:latin typeface="Arial" panose="020B0604020202020204" pitchFamily="34" charset="0"/>
                <a:cs typeface="Arial" panose="020B0604020202020204" pitchFamily="34" charset="0"/>
              </a:rPr>
              <a:t>) AS rev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FROM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order_items</a:t>
            </a:r>
            <a:r>
              <a:rPr lang="en-US" sz="1100" b="1" dirty="0">
                <a:solidFill>
                  <a:schemeClr val="accent1">
                    <a:lumMod val="60000"/>
                    <a:lumOff val="40000"/>
                  </a:schemeClr>
                </a:solidFill>
                <a:latin typeface="Arial" panose="020B0604020202020204" pitchFamily="34" charset="0"/>
                <a:cs typeface="Arial" panose="020B0604020202020204" pitchFamily="34" charset="0"/>
              </a:rPr>
              <a:t> oi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JOIN products p ON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oi.product_id</a:t>
            </a:r>
            <a:r>
              <a:rPr lang="en-US" sz="1100" b="1" dirty="0">
                <a:solidFill>
                  <a:schemeClr val="accent1">
                    <a:lumMod val="60000"/>
                    <a:lumOff val="40000"/>
                  </a:schemeClr>
                </a:solidFill>
                <a:latin typeface="Arial" panose="020B0604020202020204" pitchFamily="34" charset="0"/>
                <a:cs typeface="Arial" panose="020B0604020202020204" pitchFamily="34" charset="0"/>
              </a:rPr>
              <a:t> =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p.product_id</a:t>
            </a:r>
            <a:r>
              <a:rPr lang="en-US" sz="1100" b="1" dirty="0">
                <a:solidFill>
                  <a:schemeClr val="accent1">
                    <a:lumMod val="60000"/>
                    <a:lumOff val="40000"/>
                  </a:schemeClr>
                </a:solidFill>
                <a:latin typeface="Arial" panose="020B0604020202020204" pitchFamily="34" charset="0"/>
                <a:cs typeface="Arial" panose="020B0604020202020204" pitchFamily="34" charset="0"/>
              </a:rPr>
              <a:t>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GROUP BY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p.product_category</a:t>
            </a:r>
            <a:r>
              <a:rPr lang="en-US" sz="1100" b="1" dirty="0">
                <a:solidFill>
                  <a:schemeClr val="accent1">
                    <a:lumMod val="60000"/>
                    <a:lumOff val="40000"/>
                  </a:schemeClr>
                </a:solidFill>
                <a:latin typeface="Arial" panose="020B0604020202020204" pitchFamily="34" charset="0"/>
                <a:cs typeface="Arial" panose="020B0604020202020204" pitchFamily="34" charset="0"/>
              </a:rPr>
              <a:t>)</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SELECT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product_category</a:t>
            </a:r>
            <a:r>
              <a:rPr lang="en-US" sz="1100" b="1" dirty="0">
                <a:solidFill>
                  <a:schemeClr val="accent1">
                    <a:lumMod val="60000"/>
                    <a:lumOff val="40000"/>
                  </a:schemeClr>
                </a:solidFill>
                <a:latin typeface="Arial" panose="020B0604020202020204" pitchFamily="34" charset="0"/>
                <a:cs typeface="Arial" panose="020B0604020202020204" pitchFamily="34" charset="0"/>
              </a:rPr>
              <a:t>,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ROUND(rev,2) AS revenue,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ROUND(100 * rev / (SELECT SUM(rev)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FROM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revenue_by_category</a:t>
            </a:r>
            <a:r>
              <a:rPr lang="en-US" sz="1100" b="1" dirty="0">
                <a:solidFill>
                  <a:schemeClr val="accent1">
                    <a:lumMod val="60000"/>
                    <a:lumOff val="40000"/>
                  </a:schemeClr>
                </a:solidFill>
                <a:latin typeface="Arial" panose="020B0604020202020204" pitchFamily="34" charset="0"/>
                <a:cs typeface="Arial" panose="020B0604020202020204" pitchFamily="34" charset="0"/>
              </a:rPr>
              <a:t>), 2) </a:t>
            </a:r>
          </a:p>
          <a:p>
            <a:r>
              <a:rPr lang="en-US" sz="1100" b="1" dirty="0">
                <a:solidFill>
                  <a:schemeClr val="accent1">
                    <a:lumMod val="60000"/>
                    <a:lumOff val="40000"/>
                  </a:schemeClr>
                </a:solidFill>
                <a:latin typeface="Arial" panose="020B0604020202020204" pitchFamily="34" charset="0"/>
                <a:cs typeface="Arial" panose="020B0604020202020204" pitchFamily="34" charset="0"/>
              </a:rPr>
              <a:t>AS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pct_total_revenueFROM</a:t>
            </a:r>
            <a:r>
              <a:rPr lang="en-US" sz="1100" b="1" dirty="0">
                <a:solidFill>
                  <a:schemeClr val="accent1">
                    <a:lumMod val="60000"/>
                    <a:lumOff val="40000"/>
                  </a:schemeClr>
                </a:solidFill>
                <a:latin typeface="Arial" panose="020B0604020202020204" pitchFamily="34" charset="0"/>
                <a:cs typeface="Arial" panose="020B0604020202020204" pitchFamily="34" charset="0"/>
              </a:rPr>
              <a:t> </a:t>
            </a:r>
            <a:r>
              <a:rPr lang="en-US" sz="1100" b="1" dirty="0" err="1">
                <a:solidFill>
                  <a:schemeClr val="accent1">
                    <a:lumMod val="60000"/>
                    <a:lumOff val="40000"/>
                  </a:schemeClr>
                </a:solidFill>
                <a:latin typeface="Arial" panose="020B0604020202020204" pitchFamily="34" charset="0"/>
                <a:cs typeface="Arial" panose="020B0604020202020204" pitchFamily="34" charset="0"/>
              </a:rPr>
              <a:t>revenue_by_category</a:t>
            </a:r>
            <a:endParaRPr lang="en-US" sz="1100" b="1" dirty="0">
              <a:solidFill>
                <a:schemeClr val="accent1">
                  <a:lumMod val="60000"/>
                  <a:lumOff val="40000"/>
                </a:schemeClr>
              </a:solidFill>
              <a:latin typeface="Arial" panose="020B0604020202020204" pitchFamily="34" charset="0"/>
              <a:cs typeface="Arial" panose="020B0604020202020204" pitchFamily="34" charset="0"/>
            </a:endParaRPr>
          </a:p>
          <a:p>
            <a:r>
              <a:rPr lang="en-US" sz="1100" b="1" dirty="0">
                <a:solidFill>
                  <a:schemeClr val="accent1">
                    <a:lumMod val="60000"/>
                    <a:lumOff val="40000"/>
                  </a:schemeClr>
                </a:solidFill>
                <a:latin typeface="Arial" panose="020B0604020202020204" pitchFamily="34" charset="0"/>
                <a:cs typeface="Arial" panose="020B0604020202020204" pitchFamily="34" charset="0"/>
              </a:rPr>
              <a:t>ORDER BY rev DESC;</a:t>
            </a:r>
            <a:endParaRPr lang="en-IN" sz="1100" b="1" dirty="0">
              <a:solidFill>
                <a:schemeClr val="accent1">
                  <a:lumMod val="60000"/>
                  <a:lumOff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004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4E8D-2420-14BB-031F-0B8DF76114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69A662-1249-57ED-E9A4-182CC184073B}"/>
              </a:ext>
            </a:extLst>
          </p:cNvPr>
          <p:cNvSpPr txBox="1"/>
          <p:nvPr/>
        </p:nvSpPr>
        <p:spPr>
          <a:xfrm>
            <a:off x="213360" y="135374"/>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Intermediate Problem</a:t>
            </a:r>
            <a:endParaRPr lang="en-IN" dirty="0"/>
          </a:p>
        </p:txBody>
      </p:sp>
      <p:sp>
        <p:nvSpPr>
          <p:cNvPr id="5" name="TextBox 4">
            <a:extLst>
              <a:ext uri="{FF2B5EF4-FFF2-40B4-BE49-F238E27FC236}">
                <a16:creationId xmlns:a16="http://schemas.microsoft.com/office/drawing/2014/main" id="{CDE7CFDC-18AF-A2D7-2022-4D5A95AF395A}"/>
              </a:ext>
            </a:extLst>
          </p:cNvPr>
          <p:cNvSpPr txBox="1"/>
          <p:nvPr/>
        </p:nvSpPr>
        <p:spPr>
          <a:xfrm>
            <a:off x="807720" y="866894"/>
            <a:ext cx="1167384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Identify the correlation between product price and the number of times a product has been purchased.</a:t>
            </a:r>
            <a:endParaRPr lang="en-IN" dirty="0"/>
          </a:p>
        </p:txBody>
      </p:sp>
      <p:sp>
        <p:nvSpPr>
          <p:cNvPr id="4" name="TextBox 3">
            <a:extLst>
              <a:ext uri="{FF2B5EF4-FFF2-40B4-BE49-F238E27FC236}">
                <a16:creationId xmlns:a16="http://schemas.microsoft.com/office/drawing/2014/main" id="{57D3BD5E-DCC8-161F-1677-45C59C49617D}"/>
              </a:ext>
            </a:extLst>
          </p:cNvPr>
          <p:cNvSpPr txBox="1"/>
          <p:nvPr/>
        </p:nvSpPr>
        <p:spPr>
          <a:xfrm>
            <a:off x="140970" y="866894"/>
            <a:ext cx="624078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9" name="Picture 8">
            <a:extLst>
              <a:ext uri="{FF2B5EF4-FFF2-40B4-BE49-F238E27FC236}">
                <a16:creationId xmlns:a16="http://schemas.microsoft.com/office/drawing/2014/main" id="{3190FBED-B731-FDE7-1248-93A1C0B9A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 y="1412966"/>
            <a:ext cx="4194865" cy="2201092"/>
          </a:xfrm>
          <a:prstGeom prst="rect">
            <a:avLst/>
          </a:prstGeom>
        </p:spPr>
      </p:pic>
      <p:sp>
        <p:nvSpPr>
          <p:cNvPr id="2" name="Rectangle 1">
            <a:extLst>
              <a:ext uri="{FF2B5EF4-FFF2-40B4-BE49-F238E27FC236}">
                <a16:creationId xmlns:a16="http://schemas.microsoft.com/office/drawing/2014/main" id="{C8070462-A334-65F5-A7D5-FD4310FDFA9E}"/>
              </a:ext>
            </a:extLst>
          </p:cNvPr>
          <p:cNvSpPr/>
          <p:nvPr/>
        </p:nvSpPr>
        <p:spPr>
          <a:xfrm>
            <a:off x="213359" y="4441371"/>
            <a:ext cx="5669280" cy="17126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df</a:t>
            </a:r>
            <a:r>
              <a:rPr lang="en-US" sz="1200" dirty="0">
                <a:solidFill>
                  <a:srgbClr val="00B0F0"/>
                </a:solidFill>
              </a:rPr>
              <a:t>=</a:t>
            </a:r>
            <a:r>
              <a:rPr lang="en-US" sz="1200" dirty="0" err="1">
                <a:solidFill>
                  <a:srgbClr val="00B0F0"/>
                </a:solidFill>
              </a:rPr>
              <a:t>all_real_tables.groupby</a:t>
            </a:r>
            <a:r>
              <a:rPr lang="en-US" sz="1200" dirty="0">
                <a:solidFill>
                  <a:srgbClr val="00B0F0"/>
                </a:solidFill>
              </a:rPr>
              <a:t>('</a:t>
            </a:r>
            <a:r>
              <a:rPr lang="en-US" sz="1200" dirty="0" err="1">
                <a:solidFill>
                  <a:srgbClr val="00B0F0"/>
                </a:solidFill>
              </a:rPr>
              <a:t>product_id</a:t>
            </a:r>
            <a:r>
              <a:rPr lang="en-US" sz="1200" dirty="0">
                <a:solidFill>
                  <a:srgbClr val="00B0F0"/>
                </a:solidFill>
              </a:rPr>
              <a:t>').</a:t>
            </a:r>
            <a:r>
              <a:rPr lang="en-US" sz="1200" dirty="0" err="1">
                <a:solidFill>
                  <a:srgbClr val="00B0F0"/>
                </a:solidFill>
              </a:rPr>
              <a:t>agg</a:t>
            </a:r>
            <a:r>
              <a:rPr lang="en-US" sz="1200" dirty="0">
                <a:solidFill>
                  <a:srgbClr val="00B0F0"/>
                </a:solidFill>
              </a:rPr>
              <a:t>(</a:t>
            </a:r>
            <a:r>
              <a:rPr lang="en-US" sz="1200" dirty="0" err="1">
                <a:solidFill>
                  <a:srgbClr val="00B0F0"/>
                </a:solidFill>
              </a:rPr>
              <a:t>avg_price</a:t>
            </a:r>
            <a:r>
              <a:rPr lang="en-US" sz="1200" dirty="0">
                <a:solidFill>
                  <a:srgbClr val="00B0F0"/>
                </a:solidFill>
              </a:rPr>
              <a:t>=('</a:t>
            </a:r>
            <a:r>
              <a:rPr lang="en-US" sz="1200" dirty="0" err="1">
                <a:solidFill>
                  <a:srgbClr val="00B0F0"/>
                </a:solidFill>
              </a:rPr>
              <a:t>price','mean</a:t>
            </a:r>
            <a:r>
              <a:rPr lang="en-US" sz="1200" dirty="0">
                <a:solidFill>
                  <a:srgbClr val="00B0F0"/>
                </a:solidFill>
              </a:rPr>
              <a:t>'),</a:t>
            </a:r>
            <a:r>
              <a:rPr lang="en-US" sz="1200" dirty="0" err="1">
                <a:solidFill>
                  <a:srgbClr val="00B0F0"/>
                </a:solidFill>
              </a:rPr>
              <a:t>total_purchases</a:t>
            </a:r>
            <a:r>
              <a:rPr lang="en-US" sz="1200" dirty="0">
                <a:solidFill>
                  <a:srgbClr val="00B0F0"/>
                </a:solidFill>
              </a:rPr>
              <a:t>=('</a:t>
            </a:r>
            <a:r>
              <a:rPr lang="en-US" sz="1200" dirty="0" err="1">
                <a:solidFill>
                  <a:srgbClr val="00B0F0"/>
                </a:solidFill>
              </a:rPr>
              <a:t>product_id','count</a:t>
            </a:r>
            <a:r>
              <a:rPr lang="en-US" sz="1200" dirty="0">
                <a:solidFill>
                  <a:srgbClr val="00B0F0"/>
                </a:solidFill>
              </a:rPr>
              <a:t>')).</a:t>
            </a:r>
            <a:r>
              <a:rPr lang="en-US" sz="1200" dirty="0" err="1">
                <a:solidFill>
                  <a:srgbClr val="00B0F0"/>
                </a:solidFill>
              </a:rPr>
              <a:t>reset_index</a:t>
            </a:r>
            <a:r>
              <a:rPr lang="en-US" sz="1200" dirty="0">
                <a:solidFill>
                  <a:srgbClr val="00B0F0"/>
                </a:solidFill>
              </a:rPr>
              <a:t>() </a:t>
            </a:r>
          </a:p>
          <a:p>
            <a:endParaRPr lang="en-US" sz="1200" dirty="0">
              <a:solidFill>
                <a:srgbClr val="00B0F0"/>
              </a:solidFill>
            </a:endParaRPr>
          </a:p>
          <a:p>
            <a:r>
              <a:rPr lang="en-US" sz="1200" dirty="0" err="1">
                <a:solidFill>
                  <a:srgbClr val="00B0F0"/>
                </a:solidFill>
              </a:rPr>
              <a:t>df.sort_values</a:t>
            </a:r>
            <a:r>
              <a:rPr lang="en-US" sz="1200" dirty="0">
                <a:solidFill>
                  <a:srgbClr val="00B0F0"/>
                </a:solidFill>
              </a:rPr>
              <a:t>('</a:t>
            </a:r>
            <a:r>
              <a:rPr lang="en-US" sz="1200" dirty="0" err="1">
                <a:solidFill>
                  <a:srgbClr val="00B0F0"/>
                </a:solidFill>
              </a:rPr>
              <a:t>total_purchases',ascending</a:t>
            </a:r>
            <a:r>
              <a:rPr lang="en-US" sz="1200" dirty="0">
                <a:solidFill>
                  <a:srgbClr val="00B0F0"/>
                </a:solidFill>
              </a:rPr>
              <a:t>=False).head(10).rename(columns={'product_id':'</a:t>
            </a:r>
            <a:r>
              <a:rPr lang="en-US" sz="1200" dirty="0" err="1">
                <a:solidFill>
                  <a:srgbClr val="00B0F0"/>
                </a:solidFill>
              </a:rPr>
              <a:t>top_selling_product</a:t>
            </a:r>
            <a:r>
              <a:rPr lang="en-US" sz="1200" dirty="0">
                <a:solidFill>
                  <a:srgbClr val="00B0F0"/>
                </a:solidFill>
              </a:rPr>
              <a:t>'})</a:t>
            </a:r>
          </a:p>
          <a:p>
            <a:endParaRPr lang="en-US" sz="1200" dirty="0">
              <a:solidFill>
                <a:srgbClr val="00B0F0"/>
              </a:solidFill>
            </a:endParaRPr>
          </a:p>
        </p:txBody>
      </p:sp>
      <p:sp>
        <p:nvSpPr>
          <p:cNvPr id="6" name="Rectangle 5">
            <a:extLst>
              <a:ext uri="{FF2B5EF4-FFF2-40B4-BE49-F238E27FC236}">
                <a16:creationId xmlns:a16="http://schemas.microsoft.com/office/drawing/2014/main" id="{73617824-DA20-85A7-5879-C916F6FD9568}"/>
              </a:ext>
            </a:extLst>
          </p:cNvPr>
          <p:cNvSpPr/>
          <p:nvPr/>
        </p:nvSpPr>
        <p:spPr>
          <a:xfrm>
            <a:off x="6484983" y="1513171"/>
            <a:ext cx="4710317" cy="17126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p>
          <a:p>
            <a:r>
              <a:rPr lang="en-US" sz="1200" dirty="0">
                <a:solidFill>
                  <a:srgbClr val="00B0F0"/>
                </a:solidFill>
              </a:rPr>
              <a:t> </a:t>
            </a:r>
            <a:r>
              <a:rPr lang="en-US" sz="1200" dirty="0" err="1">
                <a:solidFill>
                  <a:srgbClr val="00B0F0"/>
                </a:solidFill>
              </a:rPr>
              <a:t>product_id</a:t>
            </a:r>
            <a:r>
              <a:rPr lang="en-US" sz="1200" dirty="0">
                <a:solidFill>
                  <a:srgbClr val="00B0F0"/>
                </a:solidFill>
              </a:rPr>
              <a:t> as </a:t>
            </a:r>
            <a:r>
              <a:rPr lang="en-US" sz="1200" dirty="0" err="1">
                <a:solidFill>
                  <a:srgbClr val="00B0F0"/>
                </a:solidFill>
              </a:rPr>
              <a:t>top_Selling_Product</a:t>
            </a:r>
            <a:r>
              <a:rPr lang="en-US" sz="1200" dirty="0">
                <a:solidFill>
                  <a:srgbClr val="00B0F0"/>
                </a:solidFill>
              </a:rPr>
              <a:t>,            </a:t>
            </a:r>
          </a:p>
          <a:p>
            <a:r>
              <a:rPr lang="en-US" sz="1200" dirty="0">
                <a:solidFill>
                  <a:srgbClr val="00B0F0"/>
                </a:solidFill>
              </a:rPr>
              <a:t>AVG(price) AS </a:t>
            </a:r>
            <a:r>
              <a:rPr lang="en-US" sz="1200" dirty="0" err="1">
                <a:solidFill>
                  <a:srgbClr val="00B0F0"/>
                </a:solidFill>
              </a:rPr>
              <a:t>avg_price</a:t>
            </a:r>
            <a:r>
              <a:rPr lang="en-US" sz="1200" dirty="0">
                <a:solidFill>
                  <a:srgbClr val="00B0F0"/>
                </a:solidFill>
              </a:rPr>
              <a:t>,            </a:t>
            </a:r>
          </a:p>
          <a:p>
            <a:r>
              <a:rPr lang="en-US" sz="1200" dirty="0">
                <a:solidFill>
                  <a:srgbClr val="00B0F0"/>
                </a:solidFill>
              </a:rPr>
              <a:t>COUNT(</a:t>
            </a:r>
            <a:r>
              <a:rPr lang="en-US" sz="1200" dirty="0" err="1">
                <a:solidFill>
                  <a:srgbClr val="00B0F0"/>
                </a:solidFill>
              </a:rPr>
              <a:t>product_id</a:t>
            </a:r>
            <a:r>
              <a:rPr lang="en-US" sz="1200" dirty="0">
                <a:solidFill>
                  <a:srgbClr val="00B0F0"/>
                </a:solidFill>
              </a:rPr>
              <a:t>) AS </a:t>
            </a:r>
            <a:r>
              <a:rPr lang="en-US" sz="1200" dirty="0" err="1">
                <a:solidFill>
                  <a:srgbClr val="00B0F0"/>
                </a:solidFill>
              </a:rPr>
              <a:t>purchased_qty</a:t>
            </a:r>
            <a:r>
              <a:rPr lang="en-US" sz="1200" dirty="0">
                <a:solidFill>
                  <a:srgbClr val="00B0F0"/>
                </a:solidFill>
              </a:rPr>
              <a:t>   </a:t>
            </a:r>
          </a:p>
          <a:p>
            <a:r>
              <a:rPr lang="en-US" sz="1200" dirty="0">
                <a:solidFill>
                  <a:srgbClr val="00B0F0"/>
                </a:solidFill>
              </a:rPr>
              <a:t> FROM        </a:t>
            </a:r>
            <a:r>
              <a:rPr lang="en-US" sz="1200" dirty="0" err="1">
                <a:solidFill>
                  <a:srgbClr val="00B0F0"/>
                </a:solidFill>
              </a:rPr>
              <a:t>order_item</a:t>
            </a:r>
            <a:r>
              <a:rPr lang="en-US" sz="1200" dirty="0">
                <a:solidFill>
                  <a:srgbClr val="00B0F0"/>
                </a:solidFill>
              </a:rPr>
              <a:t>    </a:t>
            </a:r>
          </a:p>
          <a:p>
            <a:r>
              <a:rPr lang="en-US" sz="1200" dirty="0">
                <a:solidFill>
                  <a:srgbClr val="00B0F0"/>
                </a:solidFill>
              </a:rPr>
              <a:t>GROUP BY </a:t>
            </a:r>
            <a:r>
              <a:rPr lang="en-US" sz="1200" dirty="0" err="1">
                <a:solidFill>
                  <a:srgbClr val="00B0F0"/>
                </a:solidFill>
              </a:rPr>
              <a:t>product_id</a:t>
            </a:r>
            <a:r>
              <a:rPr lang="en-US" sz="1200" dirty="0">
                <a:solidFill>
                  <a:srgbClr val="00B0F0"/>
                </a:solidFill>
              </a:rPr>
              <a:t> </a:t>
            </a:r>
          </a:p>
          <a:p>
            <a:r>
              <a:rPr lang="en-US" sz="1200" dirty="0">
                <a:solidFill>
                  <a:srgbClr val="00B0F0"/>
                </a:solidFill>
              </a:rPr>
              <a:t>order by </a:t>
            </a:r>
            <a:r>
              <a:rPr lang="en-US" sz="1200" dirty="0" err="1">
                <a:solidFill>
                  <a:srgbClr val="00B0F0"/>
                </a:solidFill>
              </a:rPr>
              <a:t>purchased_qty</a:t>
            </a:r>
            <a:r>
              <a:rPr lang="en-US" sz="1200" dirty="0">
                <a:solidFill>
                  <a:srgbClr val="00B0F0"/>
                </a:solidFill>
              </a:rPr>
              <a:t> desc limit 10 </a:t>
            </a:r>
          </a:p>
        </p:txBody>
      </p:sp>
      <p:pic>
        <p:nvPicPr>
          <p:cNvPr id="10" name="Picture 9">
            <a:extLst>
              <a:ext uri="{FF2B5EF4-FFF2-40B4-BE49-F238E27FC236}">
                <a16:creationId xmlns:a16="http://schemas.microsoft.com/office/drawing/2014/main" id="{E1496010-8DFD-AE2E-E741-D57B5AFA84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9361" y="3429000"/>
            <a:ext cx="5669280" cy="3181794"/>
          </a:xfrm>
          <a:prstGeom prst="rect">
            <a:avLst/>
          </a:prstGeom>
        </p:spPr>
      </p:pic>
    </p:spTree>
    <p:extLst>
      <p:ext uri="{BB962C8B-B14F-4D97-AF65-F5344CB8AC3E}">
        <p14:creationId xmlns:p14="http://schemas.microsoft.com/office/powerpoint/2010/main" val="2611442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EF7A5-AF34-1E8B-05D7-A1384C70A9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25A846-362A-E980-2530-AAD7B5097D7F}"/>
              </a:ext>
            </a:extLst>
          </p:cNvPr>
          <p:cNvSpPr txBox="1"/>
          <p:nvPr/>
        </p:nvSpPr>
        <p:spPr>
          <a:xfrm>
            <a:off x="213360" y="135374"/>
            <a:ext cx="609600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Intermediate Problem</a:t>
            </a:r>
            <a:endParaRPr lang="en-IN" dirty="0"/>
          </a:p>
        </p:txBody>
      </p:sp>
      <p:sp>
        <p:nvSpPr>
          <p:cNvPr id="5" name="TextBox 4">
            <a:extLst>
              <a:ext uri="{FF2B5EF4-FFF2-40B4-BE49-F238E27FC236}">
                <a16:creationId xmlns:a16="http://schemas.microsoft.com/office/drawing/2014/main" id="{E1F7D926-FBA4-9294-6AAB-C6CA477381F2}"/>
              </a:ext>
            </a:extLst>
          </p:cNvPr>
          <p:cNvSpPr txBox="1"/>
          <p:nvPr/>
        </p:nvSpPr>
        <p:spPr>
          <a:xfrm>
            <a:off x="807720" y="866894"/>
            <a:ext cx="11003280" cy="369332"/>
          </a:xfrm>
          <a:prstGeom prst="rect">
            <a:avLst/>
          </a:prstGeom>
          <a:noFill/>
        </p:spPr>
        <p:txBody>
          <a:bodyPr wrap="square">
            <a:spAutoFit/>
          </a:bodyPr>
          <a:lstStyle/>
          <a:p>
            <a:r>
              <a:rPr lang="en-IN" sz="1800" b="0" i="0" u="none" strike="noStrike" dirty="0">
                <a:solidFill>
                  <a:srgbClr val="26262F"/>
                </a:solidFill>
                <a:effectLst/>
                <a:latin typeface="Arial" panose="020B0604020202020204" pitchFamily="34" charset="0"/>
              </a:rPr>
              <a:t>Calculate the total </a:t>
            </a:r>
            <a:r>
              <a:rPr lang="en-US" sz="1800" b="0" i="0" u="none" strike="noStrike" dirty="0">
                <a:solidFill>
                  <a:srgbClr val="26262F"/>
                </a:solidFill>
                <a:effectLst/>
                <a:latin typeface="Arial" panose="020B0604020202020204" pitchFamily="34" charset="0"/>
              </a:rPr>
              <a:t>revenue generated by each seller, and rank them by revenue.</a:t>
            </a:r>
            <a:endParaRPr lang="en-IN" dirty="0"/>
          </a:p>
        </p:txBody>
      </p:sp>
      <p:sp>
        <p:nvSpPr>
          <p:cNvPr id="4" name="TextBox 3">
            <a:extLst>
              <a:ext uri="{FF2B5EF4-FFF2-40B4-BE49-F238E27FC236}">
                <a16:creationId xmlns:a16="http://schemas.microsoft.com/office/drawing/2014/main" id="{79C30D55-8593-3ADD-D05B-235BF0D53D4F}"/>
              </a:ext>
            </a:extLst>
          </p:cNvPr>
          <p:cNvSpPr txBox="1"/>
          <p:nvPr/>
        </p:nvSpPr>
        <p:spPr>
          <a:xfrm>
            <a:off x="0" y="866894"/>
            <a:ext cx="609600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9" name="Picture 8">
            <a:extLst>
              <a:ext uri="{FF2B5EF4-FFF2-40B4-BE49-F238E27FC236}">
                <a16:creationId xmlns:a16="http://schemas.microsoft.com/office/drawing/2014/main" id="{6AC08EC8-9284-1A23-7FE3-859D1BB8E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59" y="1429945"/>
            <a:ext cx="4489269" cy="3057952"/>
          </a:xfrm>
          <a:prstGeom prst="rect">
            <a:avLst/>
          </a:prstGeom>
        </p:spPr>
      </p:pic>
      <p:sp>
        <p:nvSpPr>
          <p:cNvPr id="2" name="Rectangle 1">
            <a:extLst>
              <a:ext uri="{FF2B5EF4-FFF2-40B4-BE49-F238E27FC236}">
                <a16:creationId xmlns:a16="http://schemas.microsoft.com/office/drawing/2014/main" id="{3FB85EC1-96E5-BF2B-5D66-430F26391303}"/>
              </a:ext>
            </a:extLst>
          </p:cNvPr>
          <p:cNvSpPr/>
          <p:nvPr/>
        </p:nvSpPr>
        <p:spPr>
          <a:xfrm>
            <a:off x="213360" y="4681616"/>
            <a:ext cx="4710317" cy="17126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plt.figure</a:t>
            </a:r>
            <a:r>
              <a:rPr lang="en-US" sz="1200" dirty="0">
                <a:solidFill>
                  <a:srgbClr val="00B0F0"/>
                </a:solidFill>
              </a:rPr>
              <a:t>(</a:t>
            </a:r>
            <a:r>
              <a:rPr lang="en-US" sz="1200" dirty="0" err="1">
                <a:solidFill>
                  <a:srgbClr val="00B0F0"/>
                </a:solidFill>
              </a:rPr>
              <a:t>figsize</a:t>
            </a:r>
            <a:r>
              <a:rPr lang="en-US" sz="1200" dirty="0">
                <a:solidFill>
                  <a:srgbClr val="00B0F0"/>
                </a:solidFill>
              </a:rPr>
              <a:t>=(8,3))</a:t>
            </a:r>
          </a:p>
          <a:p>
            <a:r>
              <a:rPr lang="en-US" sz="1200" dirty="0">
                <a:solidFill>
                  <a:srgbClr val="00B0F0"/>
                </a:solidFill>
              </a:rPr>
              <a:t>y5=top10_seller['</a:t>
            </a:r>
            <a:r>
              <a:rPr lang="en-US" sz="1200" dirty="0" err="1">
                <a:solidFill>
                  <a:srgbClr val="00B0F0"/>
                </a:solidFill>
              </a:rPr>
              <a:t>seller_id</a:t>
            </a:r>
            <a:r>
              <a:rPr lang="en-US" sz="1200" dirty="0">
                <a:solidFill>
                  <a:srgbClr val="00B0F0"/>
                </a:solidFill>
              </a:rPr>
              <a:t>']</a:t>
            </a:r>
          </a:p>
          <a:p>
            <a:r>
              <a:rPr lang="en-US" sz="1200" dirty="0">
                <a:solidFill>
                  <a:srgbClr val="00B0F0"/>
                </a:solidFill>
              </a:rPr>
              <a:t>x5=top10_seller['</a:t>
            </a:r>
            <a:r>
              <a:rPr lang="en-US" sz="1200" dirty="0" err="1">
                <a:solidFill>
                  <a:srgbClr val="00B0F0"/>
                </a:solidFill>
              </a:rPr>
              <a:t>seller_rev</a:t>
            </a:r>
            <a:r>
              <a:rPr lang="en-US" sz="1200" dirty="0">
                <a:solidFill>
                  <a:srgbClr val="00B0F0"/>
                </a:solidFill>
              </a:rPr>
              <a:t>']</a:t>
            </a:r>
          </a:p>
          <a:p>
            <a:r>
              <a:rPr lang="en-US" sz="1200" dirty="0" err="1">
                <a:solidFill>
                  <a:srgbClr val="00B0F0"/>
                </a:solidFill>
              </a:rPr>
              <a:t>plt.stackplot</a:t>
            </a:r>
            <a:r>
              <a:rPr lang="en-US" sz="1200" dirty="0">
                <a:solidFill>
                  <a:srgbClr val="00B0F0"/>
                </a:solidFill>
              </a:rPr>
              <a:t>(x5,y5,color='</a:t>
            </a:r>
            <a:r>
              <a:rPr lang="en-US" sz="1200" dirty="0" err="1">
                <a:solidFill>
                  <a:srgbClr val="00B0F0"/>
                </a:solidFill>
              </a:rPr>
              <a:t>lightpink</a:t>
            </a:r>
            <a:r>
              <a:rPr lang="en-US" sz="1200" dirty="0">
                <a:solidFill>
                  <a:srgbClr val="00B0F0"/>
                </a:solidFill>
              </a:rPr>
              <a:t>')</a:t>
            </a:r>
          </a:p>
          <a:p>
            <a:r>
              <a:rPr lang="en-US" sz="1200" dirty="0" err="1">
                <a:solidFill>
                  <a:srgbClr val="00B0F0"/>
                </a:solidFill>
              </a:rPr>
              <a:t>plt.title</a:t>
            </a:r>
            <a:r>
              <a:rPr lang="en-US" sz="1200" dirty="0">
                <a:solidFill>
                  <a:srgbClr val="00B0F0"/>
                </a:solidFill>
              </a:rPr>
              <a:t>('top10_sellers_BY_Revenue')</a:t>
            </a:r>
          </a:p>
          <a:p>
            <a:r>
              <a:rPr lang="en-US" sz="1200" dirty="0" err="1">
                <a:solidFill>
                  <a:srgbClr val="00B0F0"/>
                </a:solidFill>
              </a:rPr>
              <a:t>plt.show</a:t>
            </a:r>
            <a:r>
              <a:rPr lang="en-US" sz="1200" dirty="0">
                <a:solidFill>
                  <a:srgbClr val="00B0F0"/>
                </a:solidFill>
              </a:rPr>
              <a:t>()</a:t>
            </a:r>
          </a:p>
        </p:txBody>
      </p:sp>
      <p:sp>
        <p:nvSpPr>
          <p:cNvPr id="6" name="Rectangle 5">
            <a:extLst>
              <a:ext uri="{FF2B5EF4-FFF2-40B4-BE49-F238E27FC236}">
                <a16:creationId xmlns:a16="http://schemas.microsoft.com/office/drawing/2014/main" id="{D8F0C55F-46D3-21F7-7331-E590BE6461FF}"/>
              </a:ext>
            </a:extLst>
          </p:cNvPr>
          <p:cNvSpPr/>
          <p:nvPr/>
        </p:nvSpPr>
        <p:spPr>
          <a:xfrm>
            <a:off x="5365930" y="1236227"/>
            <a:ext cx="5824584" cy="2610060"/>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seller as top10_seller,</a:t>
            </a:r>
          </a:p>
          <a:p>
            <a:r>
              <a:rPr lang="en-US" sz="1200" dirty="0">
                <a:solidFill>
                  <a:srgbClr val="00B0F0"/>
                </a:solidFill>
              </a:rPr>
              <a:t> ROUND(SUM(</a:t>
            </a:r>
            <a:r>
              <a:rPr lang="en-US" sz="1200" dirty="0" err="1">
                <a:solidFill>
                  <a:srgbClr val="00B0F0"/>
                </a:solidFill>
              </a:rPr>
              <a:t>revenue_by_seller</a:t>
            </a:r>
            <a:r>
              <a:rPr lang="en-US" sz="1200" dirty="0">
                <a:solidFill>
                  <a:srgbClr val="00B0F0"/>
                </a:solidFill>
              </a:rPr>
              <a:t>), 2) AS </a:t>
            </a:r>
            <a:r>
              <a:rPr lang="en-US" sz="1200" dirty="0" err="1">
                <a:solidFill>
                  <a:srgbClr val="00B0F0"/>
                </a:solidFill>
              </a:rPr>
              <a:t>total_rev</a:t>
            </a:r>
            <a:endParaRPr lang="en-US" sz="1200" dirty="0">
              <a:solidFill>
                <a:srgbClr val="00B0F0"/>
              </a:solidFill>
            </a:endParaRPr>
          </a:p>
          <a:p>
            <a:r>
              <a:rPr lang="en-US" sz="1200" dirty="0">
                <a:solidFill>
                  <a:srgbClr val="00B0F0"/>
                </a:solidFill>
              </a:rPr>
              <a:t>FROM    (SELECT         </a:t>
            </a:r>
            <a:r>
              <a:rPr lang="en-US" sz="1200" dirty="0" err="1">
                <a:solidFill>
                  <a:srgbClr val="00B0F0"/>
                </a:solidFill>
              </a:rPr>
              <a:t>oi.order_id</a:t>
            </a:r>
            <a:r>
              <a:rPr lang="en-US" sz="1200" dirty="0">
                <a:solidFill>
                  <a:srgbClr val="00B0F0"/>
                </a:solidFill>
              </a:rPr>
              <a:t>,            </a:t>
            </a:r>
            <a:r>
              <a:rPr lang="en-US" sz="1200" dirty="0" err="1">
                <a:solidFill>
                  <a:srgbClr val="00B0F0"/>
                </a:solidFill>
              </a:rPr>
              <a:t>oi.seller_id</a:t>
            </a:r>
            <a:r>
              <a:rPr lang="en-US" sz="1200" dirty="0">
                <a:solidFill>
                  <a:srgbClr val="00B0F0"/>
                </a:solidFill>
              </a:rPr>
              <a:t> AS seller,            (</a:t>
            </a:r>
            <a:r>
              <a:rPr lang="en-US" sz="1200" dirty="0" err="1">
                <a:solidFill>
                  <a:srgbClr val="00B0F0"/>
                </a:solidFill>
              </a:rPr>
              <a:t>oi.price</a:t>
            </a:r>
            <a:r>
              <a:rPr lang="en-US" sz="1200" dirty="0">
                <a:solidFill>
                  <a:srgbClr val="00B0F0"/>
                </a:solidFill>
              </a:rPr>
              <a:t> / </a:t>
            </a:r>
            <a:r>
              <a:rPr lang="en-US" sz="1200" dirty="0" err="1">
                <a:solidFill>
                  <a:srgbClr val="00B0F0"/>
                </a:solidFill>
              </a:rPr>
              <a:t>b.price_value</a:t>
            </a:r>
            <a:r>
              <a:rPr lang="en-US" sz="1200" dirty="0">
                <a:solidFill>
                  <a:srgbClr val="00B0F0"/>
                </a:solidFill>
              </a:rPr>
              <a:t>) * </a:t>
            </a:r>
            <a:r>
              <a:rPr lang="en-US" sz="1200" dirty="0" err="1">
                <a:solidFill>
                  <a:srgbClr val="00B0F0"/>
                </a:solidFill>
              </a:rPr>
              <a:t>ov.total_value</a:t>
            </a:r>
            <a:r>
              <a:rPr lang="en-US" sz="1200" dirty="0">
                <a:solidFill>
                  <a:srgbClr val="00B0F0"/>
                </a:solidFill>
              </a:rPr>
              <a:t> AS </a:t>
            </a:r>
            <a:r>
              <a:rPr lang="en-US" sz="1200" dirty="0" err="1">
                <a:solidFill>
                  <a:srgbClr val="00B0F0"/>
                </a:solidFill>
              </a:rPr>
              <a:t>revenue_by_seller</a:t>
            </a:r>
            <a:r>
              <a:rPr lang="en-US" sz="1200" dirty="0">
                <a:solidFill>
                  <a:srgbClr val="00B0F0"/>
                </a:solidFill>
              </a:rPr>
              <a:t>    </a:t>
            </a:r>
          </a:p>
          <a:p>
            <a:r>
              <a:rPr lang="en-US" sz="1200" dirty="0">
                <a:solidFill>
                  <a:srgbClr val="00B0F0"/>
                </a:solidFill>
              </a:rPr>
              <a:t>FROM        </a:t>
            </a:r>
            <a:r>
              <a:rPr lang="en-US" sz="1200" dirty="0" err="1">
                <a:solidFill>
                  <a:srgbClr val="00B0F0"/>
                </a:solidFill>
              </a:rPr>
              <a:t>order_item</a:t>
            </a:r>
            <a:r>
              <a:rPr lang="en-US" sz="1200" dirty="0">
                <a:solidFill>
                  <a:srgbClr val="00B0F0"/>
                </a:solidFill>
              </a:rPr>
              <a:t> oi   </a:t>
            </a:r>
          </a:p>
          <a:p>
            <a:r>
              <a:rPr lang="en-US" sz="1200" dirty="0">
                <a:solidFill>
                  <a:srgbClr val="00B0F0"/>
                </a:solidFill>
              </a:rPr>
              <a:t> JOIN </a:t>
            </a:r>
            <a:r>
              <a:rPr lang="en-US" sz="1200" dirty="0" err="1">
                <a:solidFill>
                  <a:srgbClr val="00B0F0"/>
                </a:solidFill>
              </a:rPr>
              <a:t>order_value</a:t>
            </a:r>
            <a:r>
              <a:rPr lang="en-US" sz="1200" dirty="0">
                <a:solidFill>
                  <a:srgbClr val="00B0F0"/>
                </a:solidFill>
              </a:rPr>
              <a:t> </a:t>
            </a:r>
            <a:r>
              <a:rPr lang="en-US" sz="1200" dirty="0" err="1">
                <a:solidFill>
                  <a:srgbClr val="00B0F0"/>
                </a:solidFill>
              </a:rPr>
              <a:t>ov</a:t>
            </a:r>
            <a:r>
              <a:rPr lang="en-US" sz="1200" dirty="0">
                <a:solidFill>
                  <a:srgbClr val="00B0F0"/>
                </a:solidFill>
              </a:rPr>
              <a:t> ON </a:t>
            </a:r>
            <a:r>
              <a:rPr lang="en-US" sz="1200" dirty="0" err="1">
                <a:solidFill>
                  <a:srgbClr val="00B0F0"/>
                </a:solidFill>
              </a:rPr>
              <a:t>oi.order_id</a:t>
            </a:r>
            <a:r>
              <a:rPr lang="en-US" sz="1200" dirty="0">
                <a:solidFill>
                  <a:srgbClr val="00B0F0"/>
                </a:solidFill>
              </a:rPr>
              <a:t> = </a:t>
            </a:r>
            <a:r>
              <a:rPr lang="en-US" sz="1200" dirty="0" err="1">
                <a:solidFill>
                  <a:srgbClr val="00B0F0"/>
                </a:solidFill>
              </a:rPr>
              <a:t>ov.order_id</a:t>
            </a:r>
            <a:r>
              <a:rPr lang="en-US" sz="1200" dirty="0">
                <a:solidFill>
                  <a:srgbClr val="00B0F0"/>
                </a:solidFill>
              </a:rPr>
              <a:t>   </a:t>
            </a:r>
          </a:p>
          <a:p>
            <a:r>
              <a:rPr lang="en-US" sz="1200" dirty="0">
                <a:solidFill>
                  <a:srgbClr val="00B0F0"/>
                </a:solidFill>
              </a:rPr>
              <a:t> JOIN (SELECT         </a:t>
            </a:r>
            <a:r>
              <a:rPr lang="en-US" sz="1200" dirty="0" err="1">
                <a:solidFill>
                  <a:srgbClr val="00B0F0"/>
                </a:solidFill>
              </a:rPr>
              <a:t>order_id</a:t>
            </a:r>
            <a:r>
              <a:rPr lang="en-US" sz="1200" dirty="0">
                <a:solidFill>
                  <a:srgbClr val="00B0F0"/>
                </a:solidFill>
              </a:rPr>
              <a:t>, </a:t>
            </a:r>
          </a:p>
          <a:p>
            <a:r>
              <a:rPr lang="en-US" sz="1200" dirty="0">
                <a:solidFill>
                  <a:srgbClr val="00B0F0"/>
                </a:solidFill>
              </a:rPr>
              <a:t>ROUND(SUM(price), 2) AS </a:t>
            </a:r>
            <a:r>
              <a:rPr lang="en-US" sz="1200" dirty="0" err="1">
                <a:solidFill>
                  <a:srgbClr val="00B0F0"/>
                </a:solidFill>
              </a:rPr>
              <a:t>price_value</a:t>
            </a:r>
            <a:r>
              <a:rPr lang="en-US" sz="1200" dirty="0">
                <a:solidFill>
                  <a:srgbClr val="00B0F0"/>
                </a:solidFill>
              </a:rPr>
              <a:t>   </a:t>
            </a:r>
          </a:p>
          <a:p>
            <a:r>
              <a:rPr lang="en-US" sz="1200" dirty="0">
                <a:solidFill>
                  <a:srgbClr val="00B0F0"/>
                </a:solidFill>
              </a:rPr>
              <a:t> FROM        </a:t>
            </a:r>
            <a:r>
              <a:rPr lang="en-US" sz="1200" dirty="0" err="1">
                <a:solidFill>
                  <a:srgbClr val="00B0F0"/>
                </a:solidFill>
              </a:rPr>
              <a:t>order_item</a:t>
            </a:r>
            <a:r>
              <a:rPr lang="en-US" sz="1200" dirty="0">
                <a:solidFill>
                  <a:srgbClr val="00B0F0"/>
                </a:solidFill>
              </a:rPr>
              <a:t>    </a:t>
            </a:r>
          </a:p>
          <a:p>
            <a:r>
              <a:rPr lang="en-US" sz="1200" dirty="0">
                <a:solidFill>
                  <a:srgbClr val="00B0F0"/>
                </a:solidFill>
              </a:rPr>
              <a:t>GROUP BY </a:t>
            </a:r>
            <a:r>
              <a:rPr lang="en-US" sz="1200" dirty="0" err="1">
                <a:solidFill>
                  <a:srgbClr val="00B0F0"/>
                </a:solidFill>
              </a:rPr>
              <a:t>order_id</a:t>
            </a:r>
            <a:r>
              <a:rPr lang="en-US" sz="1200" dirty="0">
                <a:solidFill>
                  <a:srgbClr val="00B0F0"/>
                </a:solidFill>
              </a:rPr>
              <a:t>) AS b ON </a:t>
            </a:r>
            <a:r>
              <a:rPr lang="en-US" sz="1200" dirty="0" err="1">
                <a:solidFill>
                  <a:srgbClr val="00B0F0"/>
                </a:solidFill>
              </a:rPr>
              <a:t>oi.order_id</a:t>
            </a:r>
            <a:r>
              <a:rPr lang="en-US" sz="1200" dirty="0">
                <a:solidFill>
                  <a:srgbClr val="00B0F0"/>
                </a:solidFill>
              </a:rPr>
              <a:t> = </a:t>
            </a:r>
            <a:r>
              <a:rPr lang="en-US" sz="1200" dirty="0" err="1">
                <a:solidFill>
                  <a:srgbClr val="00B0F0"/>
                </a:solidFill>
              </a:rPr>
              <a:t>b.order_id</a:t>
            </a:r>
            <a:r>
              <a:rPr lang="en-US" sz="1200" dirty="0">
                <a:solidFill>
                  <a:srgbClr val="00B0F0"/>
                </a:solidFill>
              </a:rPr>
              <a:t>) AS </a:t>
            </a:r>
            <a:r>
              <a:rPr lang="en-US" sz="1200" dirty="0" err="1">
                <a:solidFill>
                  <a:srgbClr val="00B0F0"/>
                </a:solidFill>
              </a:rPr>
              <a:t>revenue_generated_by_sellers</a:t>
            </a:r>
            <a:endParaRPr lang="en-US" sz="1200" dirty="0">
              <a:solidFill>
                <a:srgbClr val="00B0F0"/>
              </a:solidFill>
            </a:endParaRPr>
          </a:p>
          <a:p>
            <a:r>
              <a:rPr lang="en-US" sz="1200" dirty="0">
                <a:solidFill>
                  <a:srgbClr val="00B0F0"/>
                </a:solidFill>
              </a:rPr>
              <a:t>GROUP BY seller</a:t>
            </a:r>
          </a:p>
          <a:p>
            <a:r>
              <a:rPr lang="en-US" sz="1200" dirty="0">
                <a:solidFill>
                  <a:srgbClr val="00B0F0"/>
                </a:solidFill>
              </a:rPr>
              <a:t>ORDER BY </a:t>
            </a:r>
            <a:r>
              <a:rPr lang="en-US" sz="1200" dirty="0" err="1">
                <a:solidFill>
                  <a:srgbClr val="00B0F0"/>
                </a:solidFill>
              </a:rPr>
              <a:t>total_rev</a:t>
            </a:r>
            <a:r>
              <a:rPr lang="en-US" sz="1200" dirty="0">
                <a:solidFill>
                  <a:srgbClr val="00B0F0"/>
                </a:solidFill>
              </a:rPr>
              <a:t> DESC limit 10</a:t>
            </a:r>
          </a:p>
        </p:txBody>
      </p:sp>
      <p:pic>
        <p:nvPicPr>
          <p:cNvPr id="15" name="Picture 14">
            <a:extLst>
              <a:ext uri="{FF2B5EF4-FFF2-40B4-BE49-F238E27FC236}">
                <a16:creationId xmlns:a16="http://schemas.microsoft.com/office/drawing/2014/main" id="{BFA5BED2-A415-799E-91FF-5C76C81E4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6056" y="4036089"/>
            <a:ext cx="6545943" cy="2821912"/>
          </a:xfrm>
          <a:prstGeom prst="rect">
            <a:avLst/>
          </a:prstGeom>
        </p:spPr>
      </p:pic>
    </p:spTree>
    <p:extLst>
      <p:ext uri="{BB962C8B-B14F-4D97-AF65-F5344CB8AC3E}">
        <p14:creationId xmlns:p14="http://schemas.microsoft.com/office/powerpoint/2010/main" val="2969818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051062-83AC-B0DA-CBA8-CD038EA870AB}"/>
              </a:ext>
            </a:extLst>
          </p:cNvPr>
          <p:cNvSpPr txBox="1"/>
          <p:nvPr/>
        </p:nvSpPr>
        <p:spPr>
          <a:xfrm>
            <a:off x="228600" y="150614"/>
            <a:ext cx="254508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Advanced Problem</a:t>
            </a:r>
            <a:endParaRPr lang="en-IN" dirty="0"/>
          </a:p>
        </p:txBody>
      </p:sp>
      <p:sp>
        <p:nvSpPr>
          <p:cNvPr id="5" name="TextBox 4">
            <a:extLst>
              <a:ext uri="{FF2B5EF4-FFF2-40B4-BE49-F238E27FC236}">
                <a16:creationId xmlns:a16="http://schemas.microsoft.com/office/drawing/2014/main" id="{B75DD4C6-7795-EB53-BC37-69035AB71474}"/>
              </a:ext>
            </a:extLst>
          </p:cNvPr>
          <p:cNvSpPr txBox="1"/>
          <p:nvPr/>
        </p:nvSpPr>
        <p:spPr>
          <a:xfrm>
            <a:off x="1028700" y="956994"/>
            <a:ext cx="1053084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Calculate the moving average of order values for each customer over their order history. </a:t>
            </a:r>
            <a:endParaRPr lang="en-IN" dirty="0"/>
          </a:p>
        </p:txBody>
      </p:sp>
      <p:sp>
        <p:nvSpPr>
          <p:cNvPr id="7" name="TextBox 6">
            <a:extLst>
              <a:ext uri="{FF2B5EF4-FFF2-40B4-BE49-F238E27FC236}">
                <a16:creationId xmlns:a16="http://schemas.microsoft.com/office/drawing/2014/main" id="{F84191CB-B28D-BB97-8A55-AE7A42624318}"/>
              </a:ext>
            </a:extLst>
          </p:cNvPr>
          <p:cNvSpPr txBox="1"/>
          <p:nvPr/>
        </p:nvSpPr>
        <p:spPr>
          <a:xfrm>
            <a:off x="228600" y="956994"/>
            <a:ext cx="120396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9" name="Picture 8">
            <a:extLst>
              <a:ext uri="{FF2B5EF4-FFF2-40B4-BE49-F238E27FC236}">
                <a16:creationId xmlns:a16="http://schemas.microsoft.com/office/drawing/2014/main" id="{E1568667-31FC-822F-9E9C-F2A2493A6C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63374"/>
            <a:ext cx="5272314" cy="2547369"/>
          </a:xfrm>
          <a:prstGeom prst="rect">
            <a:avLst/>
          </a:prstGeom>
        </p:spPr>
      </p:pic>
      <p:pic>
        <p:nvPicPr>
          <p:cNvPr id="11" name="Picture 10">
            <a:extLst>
              <a:ext uri="{FF2B5EF4-FFF2-40B4-BE49-F238E27FC236}">
                <a16:creationId xmlns:a16="http://schemas.microsoft.com/office/drawing/2014/main" id="{17E12D83-D20F-3F2A-654A-8281A1FE0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8430" y="4102016"/>
            <a:ext cx="5391902" cy="2743247"/>
          </a:xfrm>
          <a:prstGeom prst="rect">
            <a:avLst/>
          </a:prstGeom>
        </p:spPr>
      </p:pic>
      <p:sp>
        <p:nvSpPr>
          <p:cNvPr id="2" name="Rectangle 1">
            <a:extLst>
              <a:ext uri="{FF2B5EF4-FFF2-40B4-BE49-F238E27FC236}">
                <a16:creationId xmlns:a16="http://schemas.microsoft.com/office/drawing/2014/main" id="{230C6F99-21B1-8624-2201-D18E66B70BE0}"/>
              </a:ext>
            </a:extLst>
          </p:cNvPr>
          <p:cNvSpPr/>
          <p:nvPr/>
        </p:nvSpPr>
        <p:spPr>
          <a:xfrm>
            <a:off x="509598" y="4310743"/>
            <a:ext cx="4710317" cy="2547368"/>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order_merge_py_c</a:t>
            </a:r>
            <a:r>
              <a:rPr lang="en-US" sz="1200" dirty="0">
                <a:solidFill>
                  <a:srgbClr val="00B0F0"/>
                </a:solidFill>
              </a:rPr>
              <a:t>=</a:t>
            </a:r>
            <a:r>
              <a:rPr lang="en-US" sz="1200" dirty="0" err="1">
                <a:solidFill>
                  <a:srgbClr val="00B0F0"/>
                </a:solidFill>
              </a:rPr>
              <a:t>orders.merge</a:t>
            </a:r>
            <a:r>
              <a:rPr lang="en-US" sz="1200" dirty="0">
                <a:solidFill>
                  <a:srgbClr val="00B0F0"/>
                </a:solidFill>
              </a:rPr>
              <a:t>(</a:t>
            </a:r>
            <a:r>
              <a:rPr lang="en-US" sz="1200" dirty="0" err="1">
                <a:solidFill>
                  <a:srgbClr val="00B0F0"/>
                </a:solidFill>
              </a:rPr>
              <a:t>order_value,on</a:t>
            </a:r>
            <a:r>
              <a:rPr lang="en-US" sz="1200" dirty="0">
                <a:solidFill>
                  <a:srgbClr val="00B0F0"/>
                </a:solidFill>
              </a:rPr>
              <a:t>='</a:t>
            </a:r>
            <a:r>
              <a:rPr lang="en-US" sz="1200" dirty="0" err="1">
                <a:solidFill>
                  <a:srgbClr val="00B0F0"/>
                </a:solidFill>
              </a:rPr>
              <a:t>order_id',how</a:t>
            </a:r>
            <a:r>
              <a:rPr lang="en-US" sz="1200" dirty="0">
                <a:solidFill>
                  <a:srgbClr val="00B0F0"/>
                </a:solidFill>
              </a:rPr>
              <a:t>='inner').merge(</a:t>
            </a:r>
            <a:r>
              <a:rPr lang="en-US" sz="1200" dirty="0" err="1">
                <a:solidFill>
                  <a:srgbClr val="00B0F0"/>
                </a:solidFill>
              </a:rPr>
              <a:t>customers,on</a:t>
            </a:r>
            <a:r>
              <a:rPr lang="en-US" sz="1200" dirty="0">
                <a:solidFill>
                  <a:srgbClr val="00B0F0"/>
                </a:solidFill>
              </a:rPr>
              <a:t>='</a:t>
            </a:r>
            <a:r>
              <a:rPr lang="en-US" sz="1200" dirty="0" err="1">
                <a:solidFill>
                  <a:srgbClr val="00B0F0"/>
                </a:solidFill>
              </a:rPr>
              <a:t>customer_id',how</a:t>
            </a:r>
            <a:r>
              <a:rPr lang="en-US" sz="1200" dirty="0">
                <a:solidFill>
                  <a:srgbClr val="00B0F0"/>
                </a:solidFill>
              </a:rPr>
              <a:t>='inner')y5=top10_seller['</a:t>
            </a:r>
            <a:r>
              <a:rPr lang="en-US" sz="1200" dirty="0" err="1">
                <a:solidFill>
                  <a:srgbClr val="00B0F0"/>
                </a:solidFill>
              </a:rPr>
              <a:t>seller_id</a:t>
            </a:r>
            <a:r>
              <a:rPr lang="en-US" sz="1200" dirty="0">
                <a:solidFill>
                  <a:srgbClr val="00B0F0"/>
                </a:solidFill>
              </a:rPr>
              <a:t>']</a:t>
            </a:r>
          </a:p>
          <a:p>
            <a:r>
              <a:rPr lang="en-US" sz="1200" dirty="0" err="1">
                <a:solidFill>
                  <a:srgbClr val="00B0F0"/>
                </a:solidFill>
              </a:rPr>
              <a:t>moving_avg_per_cust</a:t>
            </a:r>
            <a:r>
              <a:rPr lang="en-US" sz="1200" dirty="0">
                <a:solidFill>
                  <a:srgbClr val="00B0F0"/>
                </a:solidFill>
              </a:rPr>
              <a:t>=</a:t>
            </a:r>
            <a:r>
              <a:rPr lang="en-US" sz="1200" dirty="0" err="1">
                <a:solidFill>
                  <a:srgbClr val="00B0F0"/>
                </a:solidFill>
              </a:rPr>
              <a:t>order_merge_py_c.groupby</a:t>
            </a:r>
            <a:r>
              <a:rPr lang="en-US" sz="1200" dirty="0">
                <a:solidFill>
                  <a:srgbClr val="00B0F0"/>
                </a:solidFill>
              </a:rPr>
              <a:t>(['customer_unique_id','</a:t>
            </a:r>
            <a:r>
              <a:rPr lang="en-US" sz="1200" dirty="0" err="1">
                <a:solidFill>
                  <a:srgbClr val="00B0F0"/>
                </a:solidFill>
              </a:rPr>
              <a:t>order_purchase_date</a:t>
            </a:r>
            <a:r>
              <a:rPr lang="en-US" sz="1200" dirty="0">
                <a:solidFill>
                  <a:srgbClr val="00B0F0"/>
                </a:solidFill>
              </a:rPr>
              <a:t>'])['</a:t>
            </a:r>
            <a:r>
              <a:rPr lang="en-US" sz="1200" dirty="0" err="1">
                <a:solidFill>
                  <a:srgbClr val="00B0F0"/>
                </a:solidFill>
              </a:rPr>
              <a:t>total_value</a:t>
            </a:r>
            <a:r>
              <a:rPr lang="en-US" sz="1200" dirty="0">
                <a:solidFill>
                  <a:srgbClr val="00B0F0"/>
                </a:solidFill>
              </a:rPr>
              <a:t>'].rolling(window=16,min_periods=1).mean().</a:t>
            </a:r>
            <a:r>
              <a:rPr lang="en-US" sz="1200" dirty="0" err="1">
                <a:solidFill>
                  <a:srgbClr val="00B0F0"/>
                </a:solidFill>
              </a:rPr>
              <a:t>reset_index</a:t>
            </a:r>
            <a:r>
              <a:rPr lang="en-US" sz="1200" dirty="0">
                <a:solidFill>
                  <a:srgbClr val="00B0F0"/>
                </a:solidFill>
              </a:rPr>
              <a:t>(name='</a:t>
            </a:r>
            <a:r>
              <a:rPr lang="en-US" sz="1200" dirty="0" err="1">
                <a:solidFill>
                  <a:srgbClr val="00B0F0"/>
                </a:solidFill>
              </a:rPr>
              <a:t>moving_avg</a:t>
            </a:r>
            <a:endParaRPr lang="en-US" sz="1200" dirty="0">
              <a:solidFill>
                <a:srgbClr val="00B0F0"/>
              </a:solidFill>
            </a:endParaRPr>
          </a:p>
          <a:p>
            <a:r>
              <a:rPr lang="en-US" sz="1200" dirty="0" err="1">
                <a:solidFill>
                  <a:srgbClr val="00B0F0"/>
                </a:solidFill>
              </a:rPr>
              <a:t>moving_avg_per_cust.sort_values</a:t>
            </a:r>
            <a:r>
              <a:rPr lang="en-US" sz="1200" dirty="0">
                <a:solidFill>
                  <a:srgbClr val="00B0F0"/>
                </a:solidFill>
              </a:rPr>
              <a:t>('</a:t>
            </a:r>
            <a:r>
              <a:rPr lang="en-US" sz="1200" dirty="0" err="1">
                <a:solidFill>
                  <a:srgbClr val="00B0F0"/>
                </a:solidFill>
              </a:rPr>
              <a:t>customer_unique_id</a:t>
            </a:r>
            <a:r>
              <a:rPr lang="en-US" sz="1200" dirty="0">
                <a:solidFill>
                  <a:srgbClr val="00B0F0"/>
                </a:solidFill>
              </a:rPr>
              <a:t>').drop(columns='level_2’)</a:t>
            </a:r>
          </a:p>
          <a:p>
            <a:endParaRPr lang="en-US" sz="1200" dirty="0">
              <a:solidFill>
                <a:srgbClr val="00B0F0"/>
              </a:solidFill>
            </a:endParaRPr>
          </a:p>
          <a:p>
            <a:r>
              <a:rPr lang="en-US" sz="1200" dirty="0" err="1">
                <a:solidFill>
                  <a:srgbClr val="00B0F0"/>
                </a:solidFill>
              </a:rPr>
              <a:t>moving_avg_per_cust</a:t>
            </a:r>
            <a:r>
              <a:rPr lang="en-US" sz="1200" dirty="0">
                <a:solidFill>
                  <a:srgbClr val="00B0F0"/>
                </a:solidFill>
              </a:rPr>
              <a:t>['</a:t>
            </a:r>
            <a:r>
              <a:rPr lang="en-US" sz="1200" dirty="0" err="1">
                <a:solidFill>
                  <a:srgbClr val="00B0F0"/>
                </a:solidFill>
              </a:rPr>
              <a:t>customer_unique_id</a:t>
            </a:r>
            <a:r>
              <a:rPr lang="en-US" sz="1200" dirty="0">
                <a:solidFill>
                  <a:srgbClr val="00B0F0"/>
                </a:solidFill>
              </a:rPr>
              <a:t>'].</a:t>
            </a:r>
            <a:r>
              <a:rPr lang="en-US" sz="1200" dirty="0" err="1">
                <a:solidFill>
                  <a:srgbClr val="00B0F0"/>
                </a:solidFill>
              </a:rPr>
              <a:t>value_counts</a:t>
            </a:r>
            <a:r>
              <a:rPr lang="en-US" sz="1200" dirty="0">
                <a:solidFill>
                  <a:srgbClr val="00B0F0"/>
                </a:solidFill>
              </a:rPr>
              <a:t>()</a:t>
            </a:r>
          </a:p>
          <a:p>
            <a:endParaRPr lang="en-US" sz="1200" dirty="0">
              <a:solidFill>
                <a:srgbClr val="00B0F0"/>
              </a:solidFill>
            </a:endParaRPr>
          </a:p>
          <a:p>
            <a:endParaRPr lang="en-US" sz="1200" dirty="0">
              <a:solidFill>
                <a:srgbClr val="00B0F0"/>
              </a:solidFill>
            </a:endParaRPr>
          </a:p>
          <a:p>
            <a:endParaRPr lang="en-US" sz="1200" dirty="0">
              <a:solidFill>
                <a:srgbClr val="00B0F0"/>
              </a:solidFill>
            </a:endParaRPr>
          </a:p>
          <a:p>
            <a:endParaRPr lang="en-US" sz="1200" dirty="0">
              <a:solidFill>
                <a:srgbClr val="00B0F0"/>
              </a:solidFill>
            </a:endParaRPr>
          </a:p>
        </p:txBody>
      </p:sp>
      <p:sp>
        <p:nvSpPr>
          <p:cNvPr id="4" name="Rectangle 3">
            <a:extLst>
              <a:ext uri="{FF2B5EF4-FFF2-40B4-BE49-F238E27FC236}">
                <a16:creationId xmlns:a16="http://schemas.microsoft.com/office/drawing/2014/main" id="{2DA60E08-9183-6B48-40BD-431FB82FF2A6}"/>
              </a:ext>
            </a:extLst>
          </p:cNvPr>
          <p:cNvSpPr/>
          <p:nvPr/>
        </p:nvSpPr>
        <p:spPr>
          <a:xfrm>
            <a:off x="6849223" y="1509486"/>
            <a:ext cx="4710317" cy="2409370"/>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r>
              <a:rPr lang="en-US" sz="1200" dirty="0" err="1">
                <a:solidFill>
                  <a:srgbClr val="00B0F0"/>
                </a:solidFill>
              </a:rPr>
              <a:t>order_year,order_month</a:t>
            </a:r>
            <a:r>
              <a:rPr lang="en-US" sz="1200" dirty="0">
                <a:solidFill>
                  <a:srgbClr val="00B0F0"/>
                </a:solidFill>
              </a:rPr>
              <a:t>, (sum(sale) over(partition by </a:t>
            </a:r>
            <a:r>
              <a:rPr lang="en-US" sz="1200" dirty="0" err="1">
                <a:solidFill>
                  <a:srgbClr val="00B0F0"/>
                </a:solidFill>
              </a:rPr>
              <a:t>order_year</a:t>
            </a:r>
            <a:r>
              <a:rPr lang="en-US" sz="1200" dirty="0">
                <a:solidFill>
                  <a:srgbClr val="00B0F0"/>
                </a:solidFill>
              </a:rPr>
              <a:t> order by </a:t>
            </a:r>
            <a:r>
              <a:rPr lang="en-US" sz="1200" dirty="0" err="1">
                <a:solidFill>
                  <a:srgbClr val="00B0F0"/>
                </a:solidFill>
              </a:rPr>
              <a:t>order_year</a:t>
            </a:r>
            <a:r>
              <a:rPr lang="en-US" sz="1200" dirty="0">
                <a:solidFill>
                  <a:srgbClr val="00B0F0"/>
                </a:solidFill>
              </a:rPr>
              <a:t>,</a:t>
            </a:r>
          </a:p>
          <a:p>
            <a:r>
              <a:rPr lang="en-US" sz="1200" dirty="0" err="1">
                <a:solidFill>
                  <a:srgbClr val="00B0F0"/>
                </a:solidFill>
              </a:rPr>
              <a:t>order_month</a:t>
            </a:r>
            <a:r>
              <a:rPr lang="en-US" sz="1200" dirty="0">
                <a:solidFill>
                  <a:srgbClr val="00B0F0"/>
                </a:solidFill>
              </a:rPr>
              <a:t> ROWS BETWEEN UNBOUNDED PRECEDING AND CURRENT ROW)) as </a:t>
            </a:r>
            <a:r>
              <a:rPr lang="en-US" sz="1200" dirty="0" err="1">
                <a:solidFill>
                  <a:srgbClr val="00B0F0"/>
                </a:solidFill>
              </a:rPr>
              <a:t>moving_total</a:t>
            </a:r>
            <a:r>
              <a:rPr lang="en-US" sz="1200" dirty="0">
                <a:solidFill>
                  <a:srgbClr val="00B0F0"/>
                </a:solidFill>
              </a:rPr>
              <a:t> </a:t>
            </a:r>
          </a:p>
          <a:p>
            <a:r>
              <a:rPr lang="en-US" sz="1200" dirty="0">
                <a:solidFill>
                  <a:srgbClr val="00B0F0"/>
                </a:solidFill>
              </a:rPr>
              <a:t>from(select year(</a:t>
            </a:r>
            <a:r>
              <a:rPr lang="en-US" sz="1200" dirty="0" err="1">
                <a:solidFill>
                  <a:srgbClr val="00B0F0"/>
                </a:solidFill>
              </a:rPr>
              <a:t>ot.order_purchase_date</a:t>
            </a:r>
            <a:r>
              <a:rPr lang="en-US" sz="1200" dirty="0">
                <a:solidFill>
                  <a:srgbClr val="00B0F0"/>
                </a:solidFill>
              </a:rPr>
              <a:t>) as </a:t>
            </a:r>
            <a:r>
              <a:rPr lang="en-US" sz="1200" dirty="0" err="1">
                <a:solidFill>
                  <a:srgbClr val="00B0F0"/>
                </a:solidFill>
              </a:rPr>
              <a:t>order_year</a:t>
            </a:r>
            <a:r>
              <a:rPr lang="en-US" sz="1200" dirty="0">
                <a:solidFill>
                  <a:srgbClr val="00B0F0"/>
                </a:solidFill>
              </a:rPr>
              <a:t>,</a:t>
            </a:r>
          </a:p>
          <a:p>
            <a:r>
              <a:rPr lang="en-US" sz="1200" dirty="0">
                <a:solidFill>
                  <a:srgbClr val="00B0F0"/>
                </a:solidFill>
              </a:rPr>
              <a:t>month(</a:t>
            </a:r>
            <a:r>
              <a:rPr lang="en-US" sz="1200" dirty="0" err="1">
                <a:solidFill>
                  <a:srgbClr val="00B0F0"/>
                </a:solidFill>
              </a:rPr>
              <a:t>ot.order_purchase_date</a:t>
            </a:r>
            <a:r>
              <a:rPr lang="en-US" sz="1200" dirty="0">
                <a:solidFill>
                  <a:srgbClr val="00B0F0"/>
                </a:solidFill>
              </a:rPr>
              <a:t>) as </a:t>
            </a:r>
            <a:r>
              <a:rPr lang="en-US" sz="1200" dirty="0" err="1">
                <a:solidFill>
                  <a:srgbClr val="00B0F0"/>
                </a:solidFill>
              </a:rPr>
              <a:t>order_month</a:t>
            </a:r>
            <a:r>
              <a:rPr lang="en-US" sz="1200" dirty="0">
                <a:solidFill>
                  <a:srgbClr val="00B0F0"/>
                </a:solidFill>
              </a:rPr>
              <a:t>,</a:t>
            </a:r>
          </a:p>
          <a:p>
            <a:r>
              <a:rPr lang="en-US" sz="1200" dirty="0">
                <a:solidFill>
                  <a:srgbClr val="00B0F0"/>
                </a:solidFill>
              </a:rPr>
              <a:t>sum(</a:t>
            </a:r>
            <a:r>
              <a:rPr lang="en-US" sz="1200" dirty="0" err="1">
                <a:solidFill>
                  <a:srgbClr val="00B0F0"/>
                </a:solidFill>
              </a:rPr>
              <a:t>ov.total_value</a:t>
            </a:r>
            <a:r>
              <a:rPr lang="en-US" sz="1200" dirty="0">
                <a:solidFill>
                  <a:srgbClr val="00B0F0"/>
                </a:solidFill>
              </a:rPr>
              <a:t>) as Sale </a:t>
            </a:r>
          </a:p>
          <a:p>
            <a:r>
              <a:rPr lang="en-US" sz="1200" dirty="0">
                <a:solidFill>
                  <a:srgbClr val="00B0F0"/>
                </a:solidFill>
              </a:rPr>
              <a:t>from orders </a:t>
            </a:r>
            <a:r>
              <a:rPr lang="en-US" sz="1200" dirty="0" err="1">
                <a:solidFill>
                  <a:srgbClr val="00B0F0"/>
                </a:solidFill>
              </a:rPr>
              <a:t>ot</a:t>
            </a:r>
            <a:endParaRPr lang="en-US" sz="1200" dirty="0">
              <a:solidFill>
                <a:srgbClr val="00B0F0"/>
              </a:solidFill>
            </a:endParaRPr>
          </a:p>
          <a:p>
            <a:r>
              <a:rPr lang="en-US" sz="1200" dirty="0">
                <a:solidFill>
                  <a:srgbClr val="00B0F0"/>
                </a:solidFill>
              </a:rPr>
              <a:t> join </a:t>
            </a:r>
            <a:r>
              <a:rPr lang="en-US" sz="1200" dirty="0" err="1">
                <a:solidFill>
                  <a:srgbClr val="00B0F0"/>
                </a:solidFill>
              </a:rPr>
              <a:t>order_value</a:t>
            </a:r>
            <a:r>
              <a:rPr lang="en-US" sz="1200" dirty="0">
                <a:solidFill>
                  <a:srgbClr val="00B0F0"/>
                </a:solidFill>
              </a:rPr>
              <a:t> </a:t>
            </a:r>
            <a:r>
              <a:rPr lang="en-US" sz="1200" dirty="0" err="1">
                <a:solidFill>
                  <a:srgbClr val="00B0F0"/>
                </a:solidFill>
              </a:rPr>
              <a:t>ov</a:t>
            </a:r>
            <a:r>
              <a:rPr lang="en-US" sz="1200" dirty="0">
                <a:solidFill>
                  <a:srgbClr val="00B0F0"/>
                </a:solidFill>
              </a:rPr>
              <a:t> on </a:t>
            </a:r>
            <a:r>
              <a:rPr lang="en-US" sz="1200" dirty="0" err="1">
                <a:solidFill>
                  <a:srgbClr val="00B0F0"/>
                </a:solidFill>
              </a:rPr>
              <a:t>ot.order_id</a:t>
            </a:r>
            <a:r>
              <a:rPr lang="en-US" sz="1200" dirty="0">
                <a:solidFill>
                  <a:srgbClr val="00B0F0"/>
                </a:solidFill>
              </a:rPr>
              <a:t>=</a:t>
            </a:r>
            <a:r>
              <a:rPr lang="en-US" sz="1200" dirty="0" err="1">
                <a:solidFill>
                  <a:srgbClr val="00B0F0"/>
                </a:solidFill>
              </a:rPr>
              <a:t>ov.order_id</a:t>
            </a:r>
            <a:r>
              <a:rPr lang="en-US" sz="1200" dirty="0">
                <a:solidFill>
                  <a:srgbClr val="00B0F0"/>
                </a:solidFill>
              </a:rPr>
              <a:t> </a:t>
            </a:r>
          </a:p>
          <a:p>
            <a:r>
              <a:rPr lang="en-US" sz="1200" dirty="0">
                <a:solidFill>
                  <a:srgbClr val="00B0F0"/>
                </a:solidFill>
              </a:rPr>
              <a:t>group by </a:t>
            </a:r>
            <a:r>
              <a:rPr lang="en-US" sz="1200" dirty="0" err="1">
                <a:solidFill>
                  <a:srgbClr val="00B0F0"/>
                </a:solidFill>
              </a:rPr>
              <a:t>order_year,order_month</a:t>
            </a:r>
            <a:r>
              <a:rPr lang="en-US" sz="1200" dirty="0">
                <a:solidFill>
                  <a:srgbClr val="00B0F0"/>
                </a:solidFill>
              </a:rPr>
              <a:t> </a:t>
            </a:r>
          </a:p>
          <a:p>
            <a:r>
              <a:rPr lang="en-US" sz="1200" dirty="0">
                <a:solidFill>
                  <a:srgbClr val="00B0F0"/>
                </a:solidFill>
              </a:rPr>
              <a:t>order by </a:t>
            </a:r>
            <a:r>
              <a:rPr lang="en-US" sz="1200" dirty="0" err="1">
                <a:solidFill>
                  <a:srgbClr val="00B0F0"/>
                </a:solidFill>
              </a:rPr>
              <a:t>order_year</a:t>
            </a:r>
            <a:r>
              <a:rPr lang="en-US" sz="1200" dirty="0">
                <a:solidFill>
                  <a:srgbClr val="00B0F0"/>
                </a:solidFill>
              </a:rPr>
              <a:t> </a:t>
            </a:r>
            <a:r>
              <a:rPr lang="en-US" sz="1200" dirty="0" err="1">
                <a:solidFill>
                  <a:srgbClr val="00B0F0"/>
                </a:solidFill>
              </a:rPr>
              <a:t>asc,order_month</a:t>
            </a:r>
            <a:r>
              <a:rPr lang="en-US" sz="1200" dirty="0">
                <a:solidFill>
                  <a:srgbClr val="00B0F0"/>
                </a:solidFill>
              </a:rPr>
              <a:t> </a:t>
            </a:r>
            <a:r>
              <a:rPr lang="en-US" sz="1200" dirty="0" err="1">
                <a:solidFill>
                  <a:srgbClr val="00B0F0"/>
                </a:solidFill>
              </a:rPr>
              <a:t>asc</a:t>
            </a:r>
            <a:r>
              <a:rPr lang="en-US" sz="1200" dirty="0">
                <a:solidFill>
                  <a:srgbClr val="00B0F0"/>
                </a:solidFill>
              </a:rPr>
              <a:t>) as base limit 10</a:t>
            </a:r>
          </a:p>
        </p:txBody>
      </p:sp>
    </p:spTree>
    <p:extLst>
      <p:ext uri="{BB962C8B-B14F-4D97-AF65-F5344CB8AC3E}">
        <p14:creationId xmlns:p14="http://schemas.microsoft.com/office/powerpoint/2010/main" val="643716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A01A-AF44-3587-23E9-6FD42E0507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BE98E5-D84B-A6DD-DAD6-4717F875762F}"/>
              </a:ext>
            </a:extLst>
          </p:cNvPr>
          <p:cNvSpPr txBox="1"/>
          <p:nvPr/>
        </p:nvSpPr>
        <p:spPr>
          <a:xfrm>
            <a:off x="228600" y="150614"/>
            <a:ext cx="254508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Advanced Problem</a:t>
            </a:r>
            <a:endParaRPr lang="en-IN" dirty="0"/>
          </a:p>
        </p:txBody>
      </p:sp>
      <p:sp>
        <p:nvSpPr>
          <p:cNvPr id="5" name="TextBox 4">
            <a:extLst>
              <a:ext uri="{FF2B5EF4-FFF2-40B4-BE49-F238E27FC236}">
                <a16:creationId xmlns:a16="http://schemas.microsoft.com/office/drawing/2014/main" id="{A0865608-7D7E-C975-2804-255A102EA73A}"/>
              </a:ext>
            </a:extLst>
          </p:cNvPr>
          <p:cNvSpPr txBox="1"/>
          <p:nvPr/>
        </p:nvSpPr>
        <p:spPr>
          <a:xfrm>
            <a:off x="1028700" y="956994"/>
            <a:ext cx="1053084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Calculate the cumulative sales per month for each year. </a:t>
            </a:r>
            <a:endParaRPr lang="en-IN" dirty="0"/>
          </a:p>
        </p:txBody>
      </p:sp>
      <p:sp>
        <p:nvSpPr>
          <p:cNvPr id="7" name="TextBox 6">
            <a:extLst>
              <a:ext uri="{FF2B5EF4-FFF2-40B4-BE49-F238E27FC236}">
                <a16:creationId xmlns:a16="http://schemas.microsoft.com/office/drawing/2014/main" id="{58C9EBDA-FD24-050A-FC6C-6A8D1FA967A3}"/>
              </a:ext>
            </a:extLst>
          </p:cNvPr>
          <p:cNvSpPr txBox="1"/>
          <p:nvPr/>
        </p:nvSpPr>
        <p:spPr>
          <a:xfrm>
            <a:off x="228600" y="956994"/>
            <a:ext cx="120396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4" name="Picture 3">
            <a:extLst>
              <a:ext uri="{FF2B5EF4-FFF2-40B4-BE49-F238E27FC236}">
                <a16:creationId xmlns:a16="http://schemas.microsoft.com/office/drawing/2014/main" id="{CD79A419-4CC0-6632-D3CF-E677B0A2A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79" y="1748134"/>
            <a:ext cx="4710316" cy="2127102"/>
          </a:xfrm>
          <a:prstGeom prst="rect">
            <a:avLst/>
          </a:prstGeom>
        </p:spPr>
      </p:pic>
      <p:pic>
        <p:nvPicPr>
          <p:cNvPr id="8" name="Picture 7">
            <a:extLst>
              <a:ext uri="{FF2B5EF4-FFF2-40B4-BE49-F238E27FC236}">
                <a16:creationId xmlns:a16="http://schemas.microsoft.com/office/drawing/2014/main" id="{D1E71A09-78AC-80BC-E81F-67F96696E1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4629" y="3674177"/>
            <a:ext cx="5250779" cy="3113427"/>
          </a:xfrm>
          <a:prstGeom prst="rect">
            <a:avLst/>
          </a:prstGeom>
        </p:spPr>
      </p:pic>
      <p:sp>
        <p:nvSpPr>
          <p:cNvPr id="2" name="Rectangle 1">
            <a:extLst>
              <a:ext uri="{FF2B5EF4-FFF2-40B4-BE49-F238E27FC236}">
                <a16:creationId xmlns:a16="http://schemas.microsoft.com/office/drawing/2014/main" id="{D60345DA-09FF-4232-6949-970E8AA2D24B}"/>
              </a:ext>
            </a:extLst>
          </p:cNvPr>
          <p:cNvSpPr/>
          <p:nvPr/>
        </p:nvSpPr>
        <p:spPr>
          <a:xfrm>
            <a:off x="213360" y="3875237"/>
            <a:ext cx="4710317" cy="2982764"/>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order_merge_py_c</a:t>
            </a:r>
            <a:r>
              <a:rPr lang="en-US" sz="1200" dirty="0">
                <a:solidFill>
                  <a:srgbClr val="00B0F0"/>
                </a:solidFill>
              </a:rPr>
              <a:t>['</a:t>
            </a:r>
            <a:r>
              <a:rPr lang="en-US" sz="1200" dirty="0" err="1">
                <a:solidFill>
                  <a:srgbClr val="00B0F0"/>
                </a:solidFill>
              </a:rPr>
              <a:t>order_purchase_year</a:t>
            </a:r>
            <a:r>
              <a:rPr lang="en-US" sz="1200" dirty="0">
                <a:solidFill>
                  <a:srgbClr val="00B0F0"/>
                </a:solidFill>
              </a:rPr>
              <a:t>']=</a:t>
            </a:r>
            <a:r>
              <a:rPr lang="en-US" sz="1200" dirty="0" err="1">
                <a:solidFill>
                  <a:srgbClr val="00B0F0"/>
                </a:solidFill>
              </a:rPr>
              <a:t>order_merge_py_c</a:t>
            </a:r>
            <a:r>
              <a:rPr lang="en-US" sz="1200" dirty="0">
                <a:solidFill>
                  <a:srgbClr val="00B0F0"/>
                </a:solidFill>
              </a:rPr>
              <a:t>['</a:t>
            </a:r>
            <a:r>
              <a:rPr lang="en-US" sz="1200" dirty="0" err="1">
                <a:solidFill>
                  <a:srgbClr val="00B0F0"/>
                </a:solidFill>
              </a:rPr>
              <a:t>order_purchase_date</a:t>
            </a:r>
            <a:r>
              <a:rPr lang="en-US" sz="1200" dirty="0">
                <a:solidFill>
                  <a:srgbClr val="00B0F0"/>
                </a:solidFill>
              </a:rPr>
              <a:t>'].dt.</a:t>
            </a:r>
          </a:p>
          <a:p>
            <a:r>
              <a:rPr lang="en-US" sz="1200" dirty="0" err="1">
                <a:solidFill>
                  <a:srgbClr val="00B0F0"/>
                </a:solidFill>
              </a:rPr>
              <a:t>order_merge_py_c</a:t>
            </a:r>
            <a:r>
              <a:rPr lang="en-US" sz="1200" dirty="0">
                <a:solidFill>
                  <a:srgbClr val="00B0F0"/>
                </a:solidFill>
              </a:rPr>
              <a:t>['</a:t>
            </a:r>
            <a:r>
              <a:rPr lang="en-US" sz="1200" dirty="0" err="1">
                <a:solidFill>
                  <a:srgbClr val="00B0F0"/>
                </a:solidFill>
              </a:rPr>
              <a:t>order_purchase_month</a:t>
            </a:r>
            <a:r>
              <a:rPr lang="en-US" sz="1200" dirty="0">
                <a:solidFill>
                  <a:srgbClr val="00B0F0"/>
                </a:solidFill>
              </a:rPr>
              <a:t>']=</a:t>
            </a:r>
            <a:r>
              <a:rPr lang="en-US" sz="1200" dirty="0" err="1">
                <a:solidFill>
                  <a:srgbClr val="00B0F0"/>
                </a:solidFill>
              </a:rPr>
              <a:t>order_merge_py_c</a:t>
            </a:r>
            <a:r>
              <a:rPr lang="en-US" sz="1200" dirty="0">
                <a:solidFill>
                  <a:srgbClr val="00B0F0"/>
                </a:solidFill>
              </a:rPr>
              <a:t>['</a:t>
            </a:r>
            <a:r>
              <a:rPr lang="en-US" sz="1200" dirty="0" err="1">
                <a:solidFill>
                  <a:srgbClr val="00B0F0"/>
                </a:solidFill>
              </a:rPr>
              <a:t>order_purchase_date</a:t>
            </a:r>
            <a:r>
              <a:rPr lang="en-US" sz="1200" dirty="0">
                <a:solidFill>
                  <a:srgbClr val="00B0F0"/>
                </a:solidFill>
              </a:rPr>
              <a:t>'].</a:t>
            </a:r>
            <a:r>
              <a:rPr lang="en-US" sz="1200" dirty="0" err="1">
                <a:solidFill>
                  <a:srgbClr val="00B0F0"/>
                </a:solidFill>
              </a:rPr>
              <a:t>dt.month</a:t>
            </a:r>
            <a:endParaRPr lang="en-US" sz="1200" dirty="0">
              <a:solidFill>
                <a:srgbClr val="00B0F0"/>
              </a:solidFill>
            </a:endParaRPr>
          </a:p>
          <a:p>
            <a:r>
              <a:rPr lang="en-US" sz="1200" dirty="0" err="1">
                <a:solidFill>
                  <a:srgbClr val="00B0F0"/>
                </a:solidFill>
              </a:rPr>
              <a:t>per_month_sale</a:t>
            </a:r>
            <a:r>
              <a:rPr lang="en-US" sz="1200" dirty="0">
                <a:solidFill>
                  <a:srgbClr val="00B0F0"/>
                </a:solidFill>
              </a:rPr>
              <a:t>=</a:t>
            </a:r>
            <a:r>
              <a:rPr lang="en-US" sz="1200" dirty="0" err="1">
                <a:solidFill>
                  <a:srgbClr val="00B0F0"/>
                </a:solidFill>
              </a:rPr>
              <a:t>order_merge_py_c.groupby</a:t>
            </a:r>
            <a:r>
              <a:rPr lang="en-US" sz="1200" dirty="0">
                <a:solidFill>
                  <a:srgbClr val="00B0F0"/>
                </a:solidFill>
              </a:rPr>
              <a:t>(['order_purchase_year','</a:t>
            </a:r>
            <a:r>
              <a:rPr lang="en-US" sz="1200" dirty="0" err="1">
                <a:solidFill>
                  <a:srgbClr val="00B0F0"/>
                </a:solidFill>
              </a:rPr>
              <a:t>order_purchase_month</a:t>
            </a:r>
            <a:r>
              <a:rPr lang="en-US" sz="1200" dirty="0">
                <a:solidFill>
                  <a:srgbClr val="00B0F0"/>
                </a:solidFill>
              </a:rPr>
              <a:t>'])['</a:t>
            </a:r>
            <a:r>
              <a:rPr lang="en-US" sz="1200" dirty="0" err="1">
                <a:solidFill>
                  <a:srgbClr val="00B0F0"/>
                </a:solidFill>
              </a:rPr>
              <a:t>total_value</a:t>
            </a:r>
            <a:r>
              <a:rPr lang="en-US" sz="1200" dirty="0">
                <a:solidFill>
                  <a:srgbClr val="00B0F0"/>
                </a:solidFill>
              </a:rPr>
              <a:t>'].sum().</a:t>
            </a:r>
            <a:r>
              <a:rPr lang="en-US" sz="1200" dirty="0" err="1">
                <a:solidFill>
                  <a:srgbClr val="00B0F0"/>
                </a:solidFill>
              </a:rPr>
              <a:t>reset_index</a:t>
            </a:r>
            <a:r>
              <a:rPr lang="en-US" sz="1200" dirty="0">
                <a:solidFill>
                  <a:srgbClr val="00B0F0"/>
                </a:solidFill>
              </a:rPr>
              <a:t>().</a:t>
            </a:r>
            <a:r>
              <a:rPr lang="en-US" sz="1200" dirty="0" err="1">
                <a:solidFill>
                  <a:srgbClr val="00B0F0"/>
                </a:solidFill>
              </a:rPr>
              <a:t>sort_values</a:t>
            </a:r>
            <a:r>
              <a:rPr lang="en-US" sz="1200" dirty="0">
                <a:solidFill>
                  <a:srgbClr val="00B0F0"/>
                </a:solidFill>
              </a:rPr>
              <a:t>(['order_purchase_year','</a:t>
            </a:r>
            <a:r>
              <a:rPr lang="en-US" sz="1200" dirty="0" err="1">
                <a:solidFill>
                  <a:srgbClr val="00B0F0"/>
                </a:solidFill>
              </a:rPr>
              <a:t>order_purchase_month</a:t>
            </a:r>
            <a:r>
              <a:rPr lang="en-US" sz="1200" dirty="0">
                <a:solidFill>
                  <a:srgbClr val="00B0F0"/>
                </a:solidFill>
              </a:rPr>
              <a:t>’])</a:t>
            </a:r>
          </a:p>
          <a:p>
            <a:r>
              <a:rPr lang="en-US" sz="1200" dirty="0" err="1">
                <a:solidFill>
                  <a:srgbClr val="00B0F0"/>
                </a:solidFill>
              </a:rPr>
              <a:t>cumulative_sale</a:t>
            </a:r>
            <a:r>
              <a:rPr lang="en-US" sz="1200" dirty="0">
                <a:solidFill>
                  <a:srgbClr val="00B0F0"/>
                </a:solidFill>
              </a:rPr>
              <a:t>=</a:t>
            </a:r>
            <a:r>
              <a:rPr lang="en-US" sz="1200" dirty="0" err="1">
                <a:solidFill>
                  <a:srgbClr val="00B0F0"/>
                </a:solidFill>
              </a:rPr>
              <a:t>per_month_sale.groupby</a:t>
            </a:r>
            <a:r>
              <a:rPr lang="en-US" sz="1200" dirty="0">
                <a:solidFill>
                  <a:srgbClr val="00B0F0"/>
                </a:solidFill>
              </a:rPr>
              <a:t>('</a:t>
            </a:r>
            <a:r>
              <a:rPr lang="en-US" sz="1200" dirty="0" err="1">
                <a:solidFill>
                  <a:srgbClr val="00B0F0"/>
                </a:solidFill>
              </a:rPr>
              <a:t>order_purchase_year</a:t>
            </a:r>
            <a:r>
              <a:rPr lang="en-US" sz="1200" dirty="0">
                <a:solidFill>
                  <a:srgbClr val="00B0F0"/>
                </a:solidFill>
              </a:rPr>
              <a:t>')['</a:t>
            </a:r>
            <a:r>
              <a:rPr lang="en-US" sz="1200" dirty="0" err="1">
                <a:solidFill>
                  <a:srgbClr val="00B0F0"/>
                </a:solidFill>
              </a:rPr>
              <a:t>total_value</a:t>
            </a:r>
            <a:r>
              <a:rPr lang="en-US" sz="1200" dirty="0">
                <a:solidFill>
                  <a:srgbClr val="00B0F0"/>
                </a:solidFill>
              </a:rPr>
              <a:t>'].expanding().sum().</a:t>
            </a:r>
            <a:r>
              <a:rPr lang="en-US" sz="1200" dirty="0" err="1">
                <a:solidFill>
                  <a:srgbClr val="00B0F0"/>
                </a:solidFill>
              </a:rPr>
              <a:t>reset_index</a:t>
            </a:r>
            <a:r>
              <a:rPr lang="en-US" sz="1200" dirty="0">
                <a:solidFill>
                  <a:srgbClr val="00B0F0"/>
                </a:solidFill>
              </a:rPr>
              <a:t>(level=0)</a:t>
            </a:r>
          </a:p>
          <a:p>
            <a:r>
              <a:rPr lang="en-US" sz="1200" dirty="0" err="1">
                <a:solidFill>
                  <a:srgbClr val="00B0F0"/>
                </a:solidFill>
              </a:rPr>
              <a:t>cumulative_sale</a:t>
            </a:r>
            <a:r>
              <a:rPr lang="en-US" sz="1200" dirty="0">
                <a:solidFill>
                  <a:srgbClr val="00B0F0"/>
                </a:solidFill>
              </a:rPr>
              <a:t>['</a:t>
            </a:r>
            <a:r>
              <a:rPr lang="en-US" sz="1200" dirty="0" err="1">
                <a:solidFill>
                  <a:srgbClr val="00B0F0"/>
                </a:solidFill>
              </a:rPr>
              <a:t>order_purchase_month</a:t>
            </a:r>
            <a:r>
              <a:rPr lang="en-US" sz="1200" dirty="0">
                <a:solidFill>
                  <a:srgbClr val="00B0F0"/>
                </a:solidFill>
              </a:rPr>
              <a:t>']=</a:t>
            </a:r>
            <a:r>
              <a:rPr lang="en-US" sz="1200" dirty="0" err="1">
                <a:solidFill>
                  <a:srgbClr val="00B0F0"/>
                </a:solidFill>
              </a:rPr>
              <a:t>per_month_sale</a:t>
            </a:r>
            <a:r>
              <a:rPr lang="en-US" sz="1200" dirty="0">
                <a:solidFill>
                  <a:srgbClr val="00B0F0"/>
                </a:solidFill>
              </a:rPr>
              <a:t>['</a:t>
            </a:r>
            <a:r>
              <a:rPr lang="en-US" sz="1200" dirty="0" err="1">
                <a:solidFill>
                  <a:srgbClr val="00B0F0"/>
                </a:solidFill>
              </a:rPr>
              <a:t>order_purchase_month</a:t>
            </a:r>
            <a:r>
              <a:rPr lang="en-US" sz="1200" dirty="0">
                <a:solidFill>
                  <a:srgbClr val="00B0F0"/>
                </a:solidFill>
              </a:rPr>
              <a:t>’]</a:t>
            </a:r>
          </a:p>
          <a:p>
            <a:r>
              <a:rPr lang="en-US" sz="1200" dirty="0" err="1">
                <a:solidFill>
                  <a:srgbClr val="00B0F0"/>
                </a:solidFill>
              </a:rPr>
              <a:t>cumulative_sale</a:t>
            </a:r>
            <a:r>
              <a:rPr lang="en-US" sz="1200" dirty="0">
                <a:solidFill>
                  <a:srgbClr val="00B0F0"/>
                </a:solidFill>
              </a:rPr>
              <a:t>[['order_purchase_year','order_purchase_month','</a:t>
            </a:r>
            <a:r>
              <a:rPr lang="en-US" sz="1200" dirty="0" err="1">
                <a:solidFill>
                  <a:srgbClr val="00B0F0"/>
                </a:solidFill>
              </a:rPr>
              <a:t>total_value</a:t>
            </a:r>
            <a:r>
              <a:rPr lang="en-US" sz="1200" dirty="0">
                <a:solidFill>
                  <a:srgbClr val="00B0F0"/>
                </a:solidFill>
              </a:rPr>
              <a:t>']].head(10)</a:t>
            </a:r>
          </a:p>
        </p:txBody>
      </p:sp>
      <p:sp>
        <p:nvSpPr>
          <p:cNvPr id="6" name="Rectangle 5">
            <a:extLst>
              <a:ext uri="{FF2B5EF4-FFF2-40B4-BE49-F238E27FC236}">
                <a16:creationId xmlns:a16="http://schemas.microsoft.com/office/drawing/2014/main" id="{487C7EB3-89C2-9DB6-95E0-2CF3D85DF051}"/>
              </a:ext>
            </a:extLst>
          </p:cNvPr>
          <p:cNvSpPr/>
          <p:nvPr/>
        </p:nvSpPr>
        <p:spPr>
          <a:xfrm>
            <a:off x="7004859" y="1326326"/>
            <a:ext cx="4710317" cy="2347851"/>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r>
              <a:rPr lang="en-US" sz="1200" dirty="0" err="1">
                <a:solidFill>
                  <a:srgbClr val="00B0F0"/>
                </a:solidFill>
              </a:rPr>
              <a:t>order_year,order_month</a:t>
            </a:r>
            <a:r>
              <a:rPr lang="en-US" sz="1200" dirty="0">
                <a:solidFill>
                  <a:srgbClr val="00B0F0"/>
                </a:solidFill>
              </a:rPr>
              <a:t>, </a:t>
            </a:r>
          </a:p>
          <a:p>
            <a:r>
              <a:rPr lang="en-US" sz="1200" dirty="0">
                <a:solidFill>
                  <a:srgbClr val="00B0F0"/>
                </a:solidFill>
              </a:rPr>
              <a:t>(sum(sale) over(partition by </a:t>
            </a:r>
            <a:r>
              <a:rPr lang="en-US" sz="1200" dirty="0" err="1">
                <a:solidFill>
                  <a:srgbClr val="00B0F0"/>
                </a:solidFill>
              </a:rPr>
              <a:t>order_year</a:t>
            </a:r>
            <a:r>
              <a:rPr lang="en-US" sz="1200" dirty="0">
                <a:solidFill>
                  <a:srgbClr val="00B0F0"/>
                </a:solidFill>
              </a:rPr>
              <a:t> </a:t>
            </a:r>
          </a:p>
          <a:p>
            <a:r>
              <a:rPr lang="en-US" sz="1200" dirty="0">
                <a:solidFill>
                  <a:srgbClr val="00B0F0"/>
                </a:solidFill>
              </a:rPr>
              <a:t>order by </a:t>
            </a:r>
            <a:r>
              <a:rPr lang="en-US" sz="1200" dirty="0" err="1">
                <a:solidFill>
                  <a:srgbClr val="00B0F0"/>
                </a:solidFill>
              </a:rPr>
              <a:t>order_year,order_month</a:t>
            </a:r>
            <a:r>
              <a:rPr lang="en-US" sz="1200" dirty="0">
                <a:solidFill>
                  <a:srgbClr val="00B0F0"/>
                </a:solidFill>
              </a:rPr>
              <a:t> ROWS BETWEEN UNBOUNDED PRECEDING AND CURRENT ROW)) as </a:t>
            </a:r>
            <a:r>
              <a:rPr lang="en-US" sz="1200" dirty="0" err="1">
                <a:solidFill>
                  <a:srgbClr val="00B0F0"/>
                </a:solidFill>
              </a:rPr>
              <a:t>moving_total</a:t>
            </a:r>
            <a:r>
              <a:rPr lang="en-US" sz="1200" dirty="0">
                <a:solidFill>
                  <a:srgbClr val="00B0F0"/>
                </a:solidFill>
              </a:rPr>
              <a:t> from(select year(</a:t>
            </a:r>
            <a:r>
              <a:rPr lang="en-US" sz="1200" dirty="0" err="1">
                <a:solidFill>
                  <a:srgbClr val="00B0F0"/>
                </a:solidFill>
              </a:rPr>
              <a:t>ot.order_purchase_date</a:t>
            </a:r>
            <a:r>
              <a:rPr lang="en-US" sz="1200" dirty="0">
                <a:solidFill>
                  <a:srgbClr val="00B0F0"/>
                </a:solidFill>
              </a:rPr>
              <a:t>) as </a:t>
            </a:r>
            <a:r>
              <a:rPr lang="en-US" sz="1200" dirty="0" err="1">
                <a:solidFill>
                  <a:srgbClr val="00B0F0"/>
                </a:solidFill>
              </a:rPr>
              <a:t>order_year</a:t>
            </a:r>
            <a:r>
              <a:rPr lang="en-US" sz="1200" dirty="0">
                <a:solidFill>
                  <a:srgbClr val="00B0F0"/>
                </a:solidFill>
              </a:rPr>
              <a:t>,</a:t>
            </a:r>
          </a:p>
          <a:p>
            <a:r>
              <a:rPr lang="en-US" sz="1200" dirty="0">
                <a:solidFill>
                  <a:srgbClr val="00B0F0"/>
                </a:solidFill>
              </a:rPr>
              <a:t>month(</a:t>
            </a:r>
            <a:r>
              <a:rPr lang="en-US" sz="1200" dirty="0" err="1">
                <a:solidFill>
                  <a:srgbClr val="00B0F0"/>
                </a:solidFill>
              </a:rPr>
              <a:t>ot.order_purchase_date</a:t>
            </a:r>
            <a:r>
              <a:rPr lang="en-US" sz="1200" dirty="0">
                <a:solidFill>
                  <a:srgbClr val="00B0F0"/>
                </a:solidFill>
              </a:rPr>
              <a:t>) as </a:t>
            </a:r>
            <a:r>
              <a:rPr lang="en-US" sz="1200" dirty="0" err="1">
                <a:solidFill>
                  <a:srgbClr val="00B0F0"/>
                </a:solidFill>
              </a:rPr>
              <a:t>order_month</a:t>
            </a:r>
            <a:r>
              <a:rPr lang="en-US" sz="1200" dirty="0">
                <a:solidFill>
                  <a:srgbClr val="00B0F0"/>
                </a:solidFill>
              </a:rPr>
              <a:t>,</a:t>
            </a:r>
          </a:p>
          <a:p>
            <a:r>
              <a:rPr lang="en-US" sz="1200" dirty="0">
                <a:solidFill>
                  <a:srgbClr val="00B0F0"/>
                </a:solidFill>
              </a:rPr>
              <a:t>sum(</a:t>
            </a:r>
            <a:r>
              <a:rPr lang="en-US" sz="1200" dirty="0" err="1">
                <a:solidFill>
                  <a:srgbClr val="00B0F0"/>
                </a:solidFill>
              </a:rPr>
              <a:t>ov.total_value</a:t>
            </a:r>
            <a:r>
              <a:rPr lang="en-US" sz="1200" dirty="0">
                <a:solidFill>
                  <a:srgbClr val="00B0F0"/>
                </a:solidFill>
              </a:rPr>
              <a:t>) as Sale </a:t>
            </a:r>
          </a:p>
          <a:p>
            <a:r>
              <a:rPr lang="en-US" sz="1200" dirty="0">
                <a:solidFill>
                  <a:srgbClr val="00B0F0"/>
                </a:solidFill>
              </a:rPr>
              <a:t>from orders </a:t>
            </a:r>
            <a:r>
              <a:rPr lang="en-US" sz="1200" dirty="0" err="1">
                <a:solidFill>
                  <a:srgbClr val="00B0F0"/>
                </a:solidFill>
              </a:rPr>
              <a:t>ot</a:t>
            </a:r>
            <a:r>
              <a:rPr lang="en-US" sz="1200" dirty="0">
                <a:solidFill>
                  <a:srgbClr val="00B0F0"/>
                </a:solidFill>
              </a:rPr>
              <a:t> </a:t>
            </a:r>
          </a:p>
          <a:p>
            <a:r>
              <a:rPr lang="en-US" sz="1200" dirty="0">
                <a:solidFill>
                  <a:srgbClr val="00B0F0"/>
                </a:solidFill>
              </a:rPr>
              <a:t>join </a:t>
            </a:r>
            <a:r>
              <a:rPr lang="en-US" sz="1200" dirty="0" err="1">
                <a:solidFill>
                  <a:srgbClr val="00B0F0"/>
                </a:solidFill>
              </a:rPr>
              <a:t>order_value</a:t>
            </a:r>
            <a:r>
              <a:rPr lang="en-US" sz="1200" dirty="0">
                <a:solidFill>
                  <a:srgbClr val="00B0F0"/>
                </a:solidFill>
              </a:rPr>
              <a:t> </a:t>
            </a:r>
            <a:r>
              <a:rPr lang="en-US" sz="1200" dirty="0" err="1">
                <a:solidFill>
                  <a:srgbClr val="00B0F0"/>
                </a:solidFill>
              </a:rPr>
              <a:t>ov</a:t>
            </a:r>
            <a:r>
              <a:rPr lang="en-US" sz="1200" dirty="0">
                <a:solidFill>
                  <a:srgbClr val="00B0F0"/>
                </a:solidFill>
              </a:rPr>
              <a:t> on </a:t>
            </a:r>
            <a:r>
              <a:rPr lang="en-US" sz="1200" dirty="0" err="1">
                <a:solidFill>
                  <a:srgbClr val="00B0F0"/>
                </a:solidFill>
              </a:rPr>
              <a:t>ot.order_id</a:t>
            </a:r>
            <a:r>
              <a:rPr lang="en-US" sz="1200" dirty="0">
                <a:solidFill>
                  <a:srgbClr val="00B0F0"/>
                </a:solidFill>
              </a:rPr>
              <a:t>=</a:t>
            </a:r>
            <a:r>
              <a:rPr lang="en-US" sz="1200" dirty="0" err="1">
                <a:solidFill>
                  <a:srgbClr val="00B0F0"/>
                </a:solidFill>
              </a:rPr>
              <a:t>ov.order_id</a:t>
            </a:r>
            <a:r>
              <a:rPr lang="en-US" sz="1200" dirty="0">
                <a:solidFill>
                  <a:srgbClr val="00B0F0"/>
                </a:solidFill>
              </a:rPr>
              <a:t> </a:t>
            </a:r>
          </a:p>
          <a:p>
            <a:r>
              <a:rPr lang="en-US" sz="1200" dirty="0">
                <a:solidFill>
                  <a:srgbClr val="00B0F0"/>
                </a:solidFill>
              </a:rPr>
              <a:t>group by </a:t>
            </a:r>
            <a:r>
              <a:rPr lang="en-US" sz="1200" dirty="0" err="1">
                <a:solidFill>
                  <a:srgbClr val="00B0F0"/>
                </a:solidFill>
              </a:rPr>
              <a:t>order_year,order_month</a:t>
            </a:r>
            <a:r>
              <a:rPr lang="en-US" sz="1200" dirty="0">
                <a:solidFill>
                  <a:srgbClr val="00B0F0"/>
                </a:solidFill>
              </a:rPr>
              <a:t> </a:t>
            </a:r>
          </a:p>
          <a:p>
            <a:r>
              <a:rPr lang="en-US" sz="1200" dirty="0">
                <a:solidFill>
                  <a:srgbClr val="00B0F0"/>
                </a:solidFill>
              </a:rPr>
              <a:t>order by </a:t>
            </a:r>
            <a:r>
              <a:rPr lang="en-US" sz="1200" dirty="0" err="1">
                <a:solidFill>
                  <a:srgbClr val="00B0F0"/>
                </a:solidFill>
              </a:rPr>
              <a:t>order_year</a:t>
            </a:r>
            <a:r>
              <a:rPr lang="en-US" sz="1200" dirty="0">
                <a:solidFill>
                  <a:srgbClr val="00B0F0"/>
                </a:solidFill>
              </a:rPr>
              <a:t> </a:t>
            </a:r>
            <a:r>
              <a:rPr lang="en-US" sz="1200" dirty="0" err="1">
                <a:solidFill>
                  <a:srgbClr val="00B0F0"/>
                </a:solidFill>
              </a:rPr>
              <a:t>asc,order_month</a:t>
            </a:r>
            <a:r>
              <a:rPr lang="en-US" sz="1200" dirty="0">
                <a:solidFill>
                  <a:srgbClr val="00B0F0"/>
                </a:solidFill>
              </a:rPr>
              <a:t> </a:t>
            </a:r>
            <a:r>
              <a:rPr lang="en-US" sz="1200" dirty="0" err="1">
                <a:solidFill>
                  <a:srgbClr val="00B0F0"/>
                </a:solidFill>
              </a:rPr>
              <a:t>asc</a:t>
            </a:r>
            <a:r>
              <a:rPr lang="en-US" sz="1200" dirty="0">
                <a:solidFill>
                  <a:srgbClr val="00B0F0"/>
                </a:solidFill>
              </a:rPr>
              <a:t>) as base limit 10</a:t>
            </a:r>
          </a:p>
        </p:txBody>
      </p:sp>
    </p:spTree>
    <p:extLst>
      <p:ext uri="{BB962C8B-B14F-4D97-AF65-F5344CB8AC3E}">
        <p14:creationId xmlns:p14="http://schemas.microsoft.com/office/powerpoint/2010/main" val="2297855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400E1-7AA6-E871-A0FF-66F784F5AF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B81F86-E211-8D5B-8795-DE5C2CE2881E}"/>
              </a:ext>
            </a:extLst>
          </p:cNvPr>
          <p:cNvSpPr txBox="1"/>
          <p:nvPr/>
        </p:nvSpPr>
        <p:spPr>
          <a:xfrm>
            <a:off x="228600" y="150614"/>
            <a:ext cx="254508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Advanced Problem</a:t>
            </a:r>
            <a:endParaRPr lang="en-IN" dirty="0"/>
          </a:p>
        </p:txBody>
      </p:sp>
      <p:sp>
        <p:nvSpPr>
          <p:cNvPr id="5" name="TextBox 4">
            <a:extLst>
              <a:ext uri="{FF2B5EF4-FFF2-40B4-BE49-F238E27FC236}">
                <a16:creationId xmlns:a16="http://schemas.microsoft.com/office/drawing/2014/main" id="{398FD6FB-04DE-32E4-24BF-E272ED28686E}"/>
              </a:ext>
            </a:extLst>
          </p:cNvPr>
          <p:cNvSpPr txBox="1"/>
          <p:nvPr/>
        </p:nvSpPr>
        <p:spPr>
          <a:xfrm>
            <a:off x="1028700" y="956994"/>
            <a:ext cx="10530840" cy="369332"/>
          </a:xfrm>
          <a:prstGeom prst="rect">
            <a:avLst/>
          </a:prstGeom>
          <a:noFill/>
        </p:spPr>
        <p:txBody>
          <a:bodyPr wrap="square">
            <a:spAutoFit/>
          </a:bodyPr>
          <a:lstStyle/>
          <a:p>
            <a:r>
              <a:rPr lang="en-US" sz="1800" b="0" i="0" u="none" strike="noStrike" dirty="0">
                <a:solidFill>
                  <a:srgbClr val="26262F"/>
                </a:solidFill>
                <a:effectLst/>
                <a:latin typeface="Arial" panose="020B0604020202020204" pitchFamily="34" charset="0"/>
              </a:rPr>
              <a:t>Calculate the year-over-year growth rate of total sales.</a:t>
            </a:r>
            <a:endParaRPr lang="en-IN" dirty="0">
              <a:solidFill>
                <a:srgbClr val="26262F"/>
              </a:solidFill>
              <a:latin typeface="Arial" panose="020B0604020202020204" pitchFamily="34" charset="0"/>
            </a:endParaRPr>
          </a:p>
        </p:txBody>
      </p:sp>
      <p:sp>
        <p:nvSpPr>
          <p:cNvPr id="7" name="TextBox 6">
            <a:extLst>
              <a:ext uri="{FF2B5EF4-FFF2-40B4-BE49-F238E27FC236}">
                <a16:creationId xmlns:a16="http://schemas.microsoft.com/office/drawing/2014/main" id="{6A4FE5E7-E190-F8A4-43D2-245C3772F60D}"/>
              </a:ext>
            </a:extLst>
          </p:cNvPr>
          <p:cNvSpPr txBox="1"/>
          <p:nvPr/>
        </p:nvSpPr>
        <p:spPr>
          <a:xfrm>
            <a:off x="228600" y="956994"/>
            <a:ext cx="120396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4" name="Picture 3">
            <a:extLst>
              <a:ext uri="{FF2B5EF4-FFF2-40B4-BE49-F238E27FC236}">
                <a16:creationId xmlns:a16="http://schemas.microsoft.com/office/drawing/2014/main" id="{495D9901-DBFA-7F20-7C13-B1D3477AA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400" y="2304892"/>
            <a:ext cx="4502226" cy="1314633"/>
          </a:xfrm>
          <a:prstGeom prst="rect">
            <a:avLst/>
          </a:prstGeom>
        </p:spPr>
      </p:pic>
      <p:pic>
        <p:nvPicPr>
          <p:cNvPr id="8" name="Picture 7">
            <a:extLst>
              <a:ext uri="{FF2B5EF4-FFF2-40B4-BE49-F238E27FC236}">
                <a16:creationId xmlns:a16="http://schemas.microsoft.com/office/drawing/2014/main" id="{F3802DDB-EF03-18E5-5863-D68C74D37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7042" y="4615961"/>
            <a:ext cx="3719906" cy="1422013"/>
          </a:xfrm>
          <a:prstGeom prst="rect">
            <a:avLst/>
          </a:prstGeom>
        </p:spPr>
      </p:pic>
      <p:sp>
        <p:nvSpPr>
          <p:cNvPr id="2" name="Rectangle 1">
            <a:extLst>
              <a:ext uri="{FF2B5EF4-FFF2-40B4-BE49-F238E27FC236}">
                <a16:creationId xmlns:a16="http://schemas.microsoft.com/office/drawing/2014/main" id="{0B29262A-A718-E18E-4111-1A3ED62D9370}"/>
              </a:ext>
            </a:extLst>
          </p:cNvPr>
          <p:cNvSpPr/>
          <p:nvPr/>
        </p:nvSpPr>
        <p:spPr>
          <a:xfrm>
            <a:off x="213360" y="4681616"/>
            <a:ext cx="4710317" cy="17126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year_sale</a:t>
            </a:r>
            <a:r>
              <a:rPr lang="en-US" sz="1200" dirty="0">
                <a:solidFill>
                  <a:srgbClr val="00B0F0"/>
                </a:solidFill>
              </a:rPr>
              <a:t>=</a:t>
            </a:r>
            <a:r>
              <a:rPr lang="en-US" sz="1200" dirty="0" err="1">
                <a:solidFill>
                  <a:srgbClr val="00B0F0"/>
                </a:solidFill>
              </a:rPr>
              <a:t>order_merge_py_c.groupby</a:t>
            </a:r>
            <a:r>
              <a:rPr lang="en-US" sz="1200" dirty="0">
                <a:solidFill>
                  <a:srgbClr val="00B0F0"/>
                </a:solidFill>
              </a:rPr>
              <a:t>('</a:t>
            </a:r>
            <a:r>
              <a:rPr lang="en-US" sz="1200" dirty="0" err="1">
                <a:solidFill>
                  <a:srgbClr val="00B0F0"/>
                </a:solidFill>
              </a:rPr>
              <a:t>order_purchase_year</a:t>
            </a:r>
            <a:r>
              <a:rPr lang="en-US" sz="1200" dirty="0">
                <a:solidFill>
                  <a:srgbClr val="00B0F0"/>
                </a:solidFill>
              </a:rPr>
              <a:t>')['</a:t>
            </a:r>
            <a:r>
              <a:rPr lang="en-US" sz="1200" dirty="0" err="1">
                <a:solidFill>
                  <a:srgbClr val="00B0F0"/>
                </a:solidFill>
              </a:rPr>
              <a:t>total_value</a:t>
            </a:r>
            <a:r>
              <a:rPr lang="en-US" sz="1200" dirty="0">
                <a:solidFill>
                  <a:srgbClr val="00B0F0"/>
                </a:solidFill>
              </a:rPr>
              <a:t>'].sum().</a:t>
            </a:r>
            <a:r>
              <a:rPr lang="en-US" sz="1200" dirty="0" err="1">
                <a:solidFill>
                  <a:srgbClr val="00B0F0"/>
                </a:solidFill>
              </a:rPr>
              <a:t>reset_index</a:t>
            </a:r>
            <a:r>
              <a:rPr lang="en-US" sz="1200" dirty="0">
                <a:solidFill>
                  <a:srgbClr val="00B0F0"/>
                </a:solidFill>
              </a:rPr>
              <a:t>(name='</a:t>
            </a:r>
            <a:r>
              <a:rPr lang="en-US" sz="1200" dirty="0" err="1">
                <a:solidFill>
                  <a:srgbClr val="00B0F0"/>
                </a:solidFill>
              </a:rPr>
              <a:t>total_sale</a:t>
            </a:r>
            <a:r>
              <a:rPr lang="en-US" sz="1200" dirty="0">
                <a:solidFill>
                  <a:srgbClr val="00B0F0"/>
                </a:solidFill>
              </a:rPr>
              <a:t>’)</a:t>
            </a:r>
          </a:p>
          <a:p>
            <a:r>
              <a:rPr lang="en-US" sz="1200" dirty="0" err="1">
                <a:solidFill>
                  <a:srgbClr val="00B0F0"/>
                </a:solidFill>
              </a:rPr>
              <a:t>year_sale</a:t>
            </a:r>
            <a:r>
              <a:rPr lang="en-US" sz="1200" dirty="0">
                <a:solidFill>
                  <a:srgbClr val="00B0F0"/>
                </a:solidFill>
              </a:rPr>
              <a:t>['</a:t>
            </a:r>
            <a:r>
              <a:rPr lang="en-US" sz="1200" dirty="0" err="1">
                <a:solidFill>
                  <a:srgbClr val="00B0F0"/>
                </a:solidFill>
              </a:rPr>
              <a:t>YOY_sale</a:t>
            </a:r>
            <a:r>
              <a:rPr lang="en-US" sz="1200" dirty="0">
                <a:solidFill>
                  <a:srgbClr val="00B0F0"/>
                </a:solidFill>
              </a:rPr>
              <a:t>']=</a:t>
            </a:r>
            <a:r>
              <a:rPr lang="en-US" sz="1200" dirty="0" err="1">
                <a:solidFill>
                  <a:srgbClr val="00B0F0"/>
                </a:solidFill>
              </a:rPr>
              <a:t>year_sale</a:t>
            </a:r>
            <a:r>
              <a:rPr lang="en-US" sz="1200" dirty="0">
                <a:solidFill>
                  <a:srgbClr val="00B0F0"/>
                </a:solidFill>
              </a:rPr>
              <a:t>['</a:t>
            </a:r>
            <a:r>
              <a:rPr lang="en-US" sz="1200" dirty="0" err="1">
                <a:solidFill>
                  <a:srgbClr val="00B0F0"/>
                </a:solidFill>
              </a:rPr>
              <a:t>total_sale</a:t>
            </a:r>
            <a:r>
              <a:rPr lang="en-US" sz="1200" dirty="0">
                <a:solidFill>
                  <a:srgbClr val="00B0F0"/>
                </a:solidFill>
              </a:rPr>
              <a:t>'].</a:t>
            </a:r>
            <a:r>
              <a:rPr lang="en-US" sz="1200" dirty="0" err="1">
                <a:solidFill>
                  <a:srgbClr val="00B0F0"/>
                </a:solidFill>
              </a:rPr>
              <a:t>pct_change</a:t>
            </a:r>
            <a:r>
              <a:rPr lang="en-US" sz="1200" dirty="0">
                <a:solidFill>
                  <a:srgbClr val="00B0F0"/>
                </a:solidFill>
              </a:rPr>
              <a:t>() * 100</a:t>
            </a:r>
          </a:p>
          <a:p>
            <a:r>
              <a:rPr lang="en-US" sz="1200" dirty="0" err="1">
                <a:solidFill>
                  <a:srgbClr val="00B0F0"/>
                </a:solidFill>
              </a:rPr>
              <a:t>year_sale</a:t>
            </a:r>
            <a:r>
              <a:rPr lang="en-US" sz="1200" dirty="0">
                <a:solidFill>
                  <a:srgbClr val="00B0F0"/>
                </a:solidFill>
              </a:rPr>
              <a:t>['</a:t>
            </a:r>
            <a:r>
              <a:rPr lang="en-US" sz="1200" dirty="0" err="1">
                <a:solidFill>
                  <a:srgbClr val="00B0F0"/>
                </a:solidFill>
              </a:rPr>
              <a:t>YOY_sale</a:t>
            </a:r>
            <a:r>
              <a:rPr lang="en-US" sz="1200" dirty="0">
                <a:solidFill>
                  <a:srgbClr val="00B0F0"/>
                </a:solidFill>
              </a:rPr>
              <a:t>']=</a:t>
            </a:r>
            <a:r>
              <a:rPr lang="en-US" sz="1200" dirty="0" err="1">
                <a:solidFill>
                  <a:srgbClr val="00B0F0"/>
                </a:solidFill>
              </a:rPr>
              <a:t>year_sale</a:t>
            </a:r>
            <a:r>
              <a:rPr lang="en-US" sz="1200" dirty="0">
                <a:solidFill>
                  <a:srgbClr val="00B0F0"/>
                </a:solidFill>
              </a:rPr>
              <a:t>['</a:t>
            </a:r>
            <a:r>
              <a:rPr lang="en-US" sz="1200" dirty="0" err="1">
                <a:solidFill>
                  <a:srgbClr val="00B0F0"/>
                </a:solidFill>
              </a:rPr>
              <a:t>YOY_sale</a:t>
            </a:r>
            <a:r>
              <a:rPr lang="en-US" sz="1200" dirty="0">
                <a:solidFill>
                  <a:srgbClr val="00B0F0"/>
                </a:solidFill>
              </a:rPr>
              <a:t>'].round(2).</a:t>
            </a:r>
            <a:r>
              <a:rPr lang="en-US" sz="1200" dirty="0" err="1">
                <a:solidFill>
                  <a:srgbClr val="00B0F0"/>
                </a:solidFill>
              </a:rPr>
              <a:t>astype</a:t>
            </a:r>
            <a:r>
              <a:rPr lang="en-US" sz="1200" dirty="0">
                <a:solidFill>
                  <a:srgbClr val="00B0F0"/>
                </a:solidFill>
              </a:rPr>
              <a:t>(str)+"%“</a:t>
            </a:r>
          </a:p>
          <a:p>
            <a:endParaRPr lang="en-US" sz="1200" dirty="0">
              <a:solidFill>
                <a:srgbClr val="00B0F0"/>
              </a:solidFill>
            </a:endParaRPr>
          </a:p>
        </p:txBody>
      </p:sp>
      <p:sp>
        <p:nvSpPr>
          <p:cNvPr id="6" name="Rectangle 5">
            <a:extLst>
              <a:ext uri="{FF2B5EF4-FFF2-40B4-BE49-F238E27FC236}">
                <a16:creationId xmlns:a16="http://schemas.microsoft.com/office/drawing/2014/main" id="{A70B9D7E-D0C1-243D-FDA4-931BAD2AFC3A}"/>
              </a:ext>
            </a:extLst>
          </p:cNvPr>
          <p:cNvSpPr/>
          <p:nvPr/>
        </p:nvSpPr>
        <p:spPr>
          <a:xfrm>
            <a:off x="6096000" y="1900341"/>
            <a:ext cx="4710317" cy="2497488"/>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a:solidFill>
                  <a:srgbClr val="00B0F0"/>
                </a:solidFill>
              </a:rPr>
              <a:t>select </a:t>
            </a:r>
          </a:p>
          <a:p>
            <a:r>
              <a:rPr lang="en-US" sz="1200" dirty="0" err="1">
                <a:solidFill>
                  <a:srgbClr val="00B0F0"/>
                </a:solidFill>
              </a:rPr>
              <a:t>yearly_order,yearly_sale</a:t>
            </a:r>
            <a:r>
              <a:rPr lang="en-US" sz="1200" dirty="0">
                <a:solidFill>
                  <a:srgbClr val="00B0F0"/>
                </a:solidFill>
              </a:rPr>
              <a:t>,</a:t>
            </a:r>
          </a:p>
          <a:p>
            <a:r>
              <a:rPr lang="en-US" sz="1200" dirty="0" err="1">
                <a:solidFill>
                  <a:srgbClr val="00B0F0"/>
                </a:solidFill>
              </a:rPr>
              <a:t>concat</a:t>
            </a:r>
            <a:r>
              <a:rPr lang="en-US" sz="1200" dirty="0">
                <a:solidFill>
                  <a:srgbClr val="00B0F0"/>
                </a:solidFill>
              </a:rPr>
              <a:t>(round((</a:t>
            </a:r>
            <a:r>
              <a:rPr lang="en-US" sz="1200" dirty="0" err="1">
                <a:solidFill>
                  <a:srgbClr val="00B0F0"/>
                </a:solidFill>
              </a:rPr>
              <a:t>yearly_sale</a:t>
            </a:r>
            <a:r>
              <a:rPr lang="en-US" sz="1200" dirty="0">
                <a:solidFill>
                  <a:srgbClr val="00B0F0"/>
                </a:solidFill>
              </a:rPr>
              <a:t>-lag(</a:t>
            </a:r>
            <a:r>
              <a:rPr lang="en-US" sz="1200" dirty="0" err="1">
                <a:solidFill>
                  <a:srgbClr val="00B0F0"/>
                </a:solidFill>
              </a:rPr>
              <a:t>yearly_sale</a:t>
            </a:r>
            <a:r>
              <a:rPr lang="en-US" sz="1200" dirty="0">
                <a:solidFill>
                  <a:srgbClr val="00B0F0"/>
                </a:solidFill>
              </a:rPr>
              <a:t>) over(order by </a:t>
            </a:r>
            <a:r>
              <a:rPr lang="en-US" sz="1200" dirty="0" err="1">
                <a:solidFill>
                  <a:srgbClr val="00B0F0"/>
                </a:solidFill>
              </a:rPr>
              <a:t>yearly_order</a:t>
            </a:r>
            <a:r>
              <a:rPr lang="en-US" sz="1200" dirty="0">
                <a:solidFill>
                  <a:srgbClr val="00B0F0"/>
                </a:solidFill>
              </a:rPr>
              <a:t>))/lag(</a:t>
            </a:r>
            <a:r>
              <a:rPr lang="en-US" sz="1200" dirty="0" err="1">
                <a:solidFill>
                  <a:srgbClr val="00B0F0"/>
                </a:solidFill>
              </a:rPr>
              <a:t>yearly_sale</a:t>
            </a:r>
            <a:r>
              <a:rPr lang="en-US" sz="1200" dirty="0">
                <a:solidFill>
                  <a:srgbClr val="00B0F0"/>
                </a:solidFill>
              </a:rPr>
              <a:t>) over(order by </a:t>
            </a:r>
            <a:r>
              <a:rPr lang="en-US" sz="1200" dirty="0" err="1">
                <a:solidFill>
                  <a:srgbClr val="00B0F0"/>
                </a:solidFill>
              </a:rPr>
              <a:t>yearly_order</a:t>
            </a:r>
            <a:r>
              <a:rPr lang="en-US" sz="1200" dirty="0">
                <a:solidFill>
                  <a:srgbClr val="00B0F0"/>
                </a:solidFill>
              </a:rPr>
              <a:t>)*100,2),'%') as </a:t>
            </a:r>
            <a:r>
              <a:rPr lang="en-US" sz="1200" dirty="0" err="1">
                <a:solidFill>
                  <a:srgbClr val="00B0F0"/>
                </a:solidFill>
              </a:rPr>
              <a:t>yoy_growth_percent</a:t>
            </a:r>
            <a:endParaRPr lang="en-US" sz="1200" dirty="0">
              <a:solidFill>
                <a:srgbClr val="00B0F0"/>
              </a:solidFill>
            </a:endParaRPr>
          </a:p>
          <a:p>
            <a:r>
              <a:rPr lang="en-US" sz="1200" dirty="0">
                <a:solidFill>
                  <a:srgbClr val="00B0F0"/>
                </a:solidFill>
              </a:rPr>
              <a:t>from(select </a:t>
            </a:r>
            <a:r>
              <a:rPr lang="en-US" sz="1200" dirty="0" err="1">
                <a:solidFill>
                  <a:srgbClr val="00B0F0"/>
                </a:solidFill>
              </a:rPr>
              <a:t>yearly_order,sum</a:t>
            </a:r>
            <a:r>
              <a:rPr lang="en-US" sz="1200" dirty="0">
                <a:solidFill>
                  <a:srgbClr val="00B0F0"/>
                </a:solidFill>
              </a:rPr>
              <a:t>(</a:t>
            </a:r>
            <a:r>
              <a:rPr lang="en-US" sz="1200" dirty="0" err="1">
                <a:solidFill>
                  <a:srgbClr val="00B0F0"/>
                </a:solidFill>
              </a:rPr>
              <a:t>total_sale</a:t>
            </a:r>
            <a:r>
              <a:rPr lang="en-US" sz="1200" dirty="0">
                <a:solidFill>
                  <a:srgbClr val="00B0F0"/>
                </a:solidFill>
              </a:rPr>
              <a:t>) as </a:t>
            </a:r>
            <a:r>
              <a:rPr lang="en-US" sz="1200" dirty="0" err="1">
                <a:solidFill>
                  <a:srgbClr val="00B0F0"/>
                </a:solidFill>
              </a:rPr>
              <a:t>yearly_sale</a:t>
            </a:r>
            <a:r>
              <a:rPr lang="en-US" sz="1200" dirty="0">
                <a:solidFill>
                  <a:srgbClr val="00B0F0"/>
                </a:solidFill>
              </a:rPr>
              <a:t> </a:t>
            </a:r>
          </a:p>
          <a:p>
            <a:r>
              <a:rPr lang="en-US" sz="1200" dirty="0">
                <a:solidFill>
                  <a:srgbClr val="00B0F0"/>
                </a:solidFill>
              </a:rPr>
              <a:t>from (select year(</a:t>
            </a:r>
            <a:r>
              <a:rPr lang="en-US" sz="1200" dirty="0" err="1">
                <a:solidFill>
                  <a:srgbClr val="00B0F0"/>
                </a:solidFill>
              </a:rPr>
              <a:t>order_purchase_date</a:t>
            </a:r>
            <a:r>
              <a:rPr lang="en-US" sz="1200" dirty="0">
                <a:solidFill>
                  <a:srgbClr val="00B0F0"/>
                </a:solidFill>
              </a:rPr>
              <a:t>) as </a:t>
            </a:r>
            <a:r>
              <a:rPr lang="en-US" sz="1200" dirty="0" err="1">
                <a:solidFill>
                  <a:srgbClr val="00B0F0"/>
                </a:solidFill>
              </a:rPr>
              <a:t>yearly_order</a:t>
            </a:r>
            <a:r>
              <a:rPr lang="en-US" sz="1200" dirty="0">
                <a:solidFill>
                  <a:srgbClr val="00B0F0"/>
                </a:solidFill>
              </a:rPr>
              <a:t>, </a:t>
            </a:r>
            <a:r>
              <a:rPr lang="en-US" sz="1200" dirty="0" err="1">
                <a:solidFill>
                  <a:srgbClr val="00B0F0"/>
                </a:solidFill>
              </a:rPr>
              <a:t>ov.total_value</a:t>
            </a:r>
            <a:r>
              <a:rPr lang="en-US" sz="1200" dirty="0">
                <a:solidFill>
                  <a:srgbClr val="00B0F0"/>
                </a:solidFill>
              </a:rPr>
              <a:t> as </a:t>
            </a:r>
            <a:r>
              <a:rPr lang="en-US" sz="1200" dirty="0" err="1">
                <a:solidFill>
                  <a:srgbClr val="00B0F0"/>
                </a:solidFill>
              </a:rPr>
              <a:t>total_sale</a:t>
            </a:r>
            <a:endParaRPr lang="en-US" sz="1200" dirty="0">
              <a:solidFill>
                <a:srgbClr val="00B0F0"/>
              </a:solidFill>
            </a:endParaRPr>
          </a:p>
          <a:p>
            <a:r>
              <a:rPr lang="en-US" sz="1200" dirty="0">
                <a:solidFill>
                  <a:srgbClr val="00B0F0"/>
                </a:solidFill>
              </a:rPr>
              <a:t> from orders </a:t>
            </a:r>
            <a:r>
              <a:rPr lang="en-US" sz="1200" dirty="0" err="1">
                <a:solidFill>
                  <a:srgbClr val="00B0F0"/>
                </a:solidFill>
              </a:rPr>
              <a:t>ot</a:t>
            </a:r>
            <a:endParaRPr lang="en-US" sz="1200" dirty="0">
              <a:solidFill>
                <a:srgbClr val="00B0F0"/>
              </a:solidFill>
            </a:endParaRPr>
          </a:p>
          <a:p>
            <a:r>
              <a:rPr lang="en-US" sz="1200" dirty="0">
                <a:solidFill>
                  <a:srgbClr val="00B0F0"/>
                </a:solidFill>
              </a:rPr>
              <a:t> join </a:t>
            </a:r>
            <a:r>
              <a:rPr lang="en-US" sz="1200" dirty="0" err="1">
                <a:solidFill>
                  <a:srgbClr val="00B0F0"/>
                </a:solidFill>
              </a:rPr>
              <a:t>order_value</a:t>
            </a:r>
            <a:r>
              <a:rPr lang="en-US" sz="1200" dirty="0">
                <a:solidFill>
                  <a:srgbClr val="00B0F0"/>
                </a:solidFill>
              </a:rPr>
              <a:t> </a:t>
            </a:r>
            <a:r>
              <a:rPr lang="en-US" sz="1200" dirty="0" err="1">
                <a:solidFill>
                  <a:srgbClr val="00B0F0"/>
                </a:solidFill>
              </a:rPr>
              <a:t>ov</a:t>
            </a:r>
            <a:r>
              <a:rPr lang="en-US" sz="1200" dirty="0">
                <a:solidFill>
                  <a:srgbClr val="00B0F0"/>
                </a:solidFill>
              </a:rPr>
              <a:t> on </a:t>
            </a:r>
            <a:r>
              <a:rPr lang="en-US" sz="1200" dirty="0" err="1">
                <a:solidFill>
                  <a:srgbClr val="00B0F0"/>
                </a:solidFill>
              </a:rPr>
              <a:t>ot.order_id</a:t>
            </a:r>
            <a:r>
              <a:rPr lang="en-US" sz="1200" dirty="0">
                <a:solidFill>
                  <a:srgbClr val="00B0F0"/>
                </a:solidFill>
              </a:rPr>
              <a:t>=</a:t>
            </a:r>
            <a:r>
              <a:rPr lang="en-US" sz="1200" dirty="0" err="1">
                <a:solidFill>
                  <a:srgbClr val="00B0F0"/>
                </a:solidFill>
              </a:rPr>
              <a:t>ov.order_id</a:t>
            </a:r>
            <a:r>
              <a:rPr lang="en-US" sz="1200" dirty="0">
                <a:solidFill>
                  <a:srgbClr val="00B0F0"/>
                </a:solidFill>
              </a:rPr>
              <a:t> </a:t>
            </a:r>
          </a:p>
          <a:p>
            <a:r>
              <a:rPr lang="en-US" sz="1200" dirty="0">
                <a:solidFill>
                  <a:srgbClr val="00B0F0"/>
                </a:solidFill>
              </a:rPr>
              <a:t>group by </a:t>
            </a:r>
            <a:r>
              <a:rPr lang="en-US" sz="1200" dirty="0" err="1">
                <a:solidFill>
                  <a:srgbClr val="00B0F0"/>
                </a:solidFill>
              </a:rPr>
              <a:t>yearly_order</a:t>
            </a:r>
            <a:r>
              <a:rPr lang="en-US" sz="1200" dirty="0">
                <a:solidFill>
                  <a:srgbClr val="00B0F0"/>
                </a:solidFill>
              </a:rPr>
              <a:t>, </a:t>
            </a:r>
            <a:r>
              <a:rPr lang="en-US" sz="1200" dirty="0" err="1">
                <a:solidFill>
                  <a:srgbClr val="00B0F0"/>
                </a:solidFill>
              </a:rPr>
              <a:t>ot.order_id</a:t>
            </a:r>
            <a:r>
              <a:rPr lang="en-US" sz="1200" dirty="0">
                <a:solidFill>
                  <a:srgbClr val="00B0F0"/>
                </a:solidFill>
              </a:rPr>
              <a:t>, </a:t>
            </a:r>
            <a:r>
              <a:rPr lang="en-US" sz="1200" dirty="0" err="1">
                <a:solidFill>
                  <a:srgbClr val="00B0F0"/>
                </a:solidFill>
              </a:rPr>
              <a:t>ov.total_value</a:t>
            </a:r>
            <a:r>
              <a:rPr lang="en-US" sz="1200" dirty="0">
                <a:solidFill>
                  <a:srgbClr val="00B0F0"/>
                </a:solidFill>
              </a:rPr>
              <a:t>) as base</a:t>
            </a:r>
          </a:p>
          <a:p>
            <a:r>
              <a:rPr lang="en-US" sz="1200" dirty="0">
                <a:solidFill>
                  <a:srgbClr val="00B0F0"/>
                </a:solidFill>
              </a:rPr>
              <a:t> group by </a:t>
            </a:r>
            <a:r>
              <a:rPr lang="en-US" sz="1200" dirty="0" err="1">
                <a:solidFill>
                  <a:srgbClr val="00B0F0"/>
                </a:solidFill>
              </a:rPr>
              <a:t>yearly_order</a:t>
            </a:r>
            <a:r>
              <a:rPr lang="en-US" sz="1200" dirty="0">
                <a:solidFill>
                  <a:srgbClr val="00B0F0"/>
                </a:solidFill>
              </a:rPr>
              <a:t>) as base</a:t>
            </a:r>
          </a:p>
        </p:txBody>
      </p:sp>
    </p:spTree>
    <p:extLst>
      <p:ext uri="{BB962C8B-B14F-4D97-AF65-F5344CB8AC3E}">
        <p14:creationId xmlns:p14="http://schemas.microsoft.com/office/powerpoint/2010/main" val="3381988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EF327-0184-C2DE-FEA4-BFC68DE24C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250F71-E023-655F-8F4E-1A0130374B1B}"/>
              </a:ext>
            </a:extLst>
          </p:cNvPr>
          <p:cNvSpPr txBox="1"/>
          <p:nvPr/>
        </p:nvSpPr>
        <p:spPr>
          <a:xfrm>
            <a:off x="228600" y="150614"/>
            <a:ext cx="254508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Advanced Problem</a:t>
            </a:r>
            <a:endParaRPr lang="en-IN" dirty="0"/>
          </a:p>
        </p:txBody>
      </p:sp>
      <p:sp>
        <p:nvSpPr>
          <p:cNvPr id="5" name="TextBox 4">
            <a:extLst>
              <a:ext uri="{FF2B5EF4-FFF2-40B4-BE49-F238E27FC236}">
                <a16:creationId xmlns:a16="http://schemas.microsoft.com/office/drawing/2014/main" id="{0E211911-FC92-094F-741C-FAAD730CC1CD}"/>
              </a:ext>
            </a:extLst>
          </p:cNvPr>
          <p:cNvSpPr txBox="1"/>
          <p:nvPr/>
        </p:nvSpPr>
        <p:spPr>
          <a:xfrm>
            <a:off x="1028700" y="956994"/>
            <a:ext cx="10553700" cy="646331"/>
          </a:xfrm>
          <a:prstGeom prst="rect">
            <a:avLst/>
          </a:prstGeom>
          <a:noFill/>
        </p:spPr>
        <p:txBody>
          <a:bodyPr wrap="square">
            <a:spAutoFit/>
          </a:bodyPr>
          <a:lstStyle/>
          <a:p>
            <a:r>
              <a:rPr lang="en-IN" sz="1800" b="0" i="0" u="none" strike="noStrike" dirty="0">
                <a:solidFill>
                  <a:srgbClr val="26262F"/>
                </a:solidFill>
                <a:effectLst/>
                <a:latin typeface="Arial" panose="020B0604020202020204" pitchFamily="34" charset="0"/>
              </a:rPr>
              <a:t>Calculate the retention </a:t>
            </a:r>
            <a:r>
              <a:rPr lang="en-US" sz="1800" b="0" i="0" u="none" strike="noStrike" dirty="0">
                <a:solidFill>
                  <a:srgbClr val="26262F"/>
                </a:solidFill>
                <a:effectLst/>
                <a:latin typeface="Arial" panose="020B0604020202020204" pitchFamily="34" charset="0"/>
              </a:rPr>
              <a:t>rate of customers, defined as the percentage of customers who make another purchase within 6 months of their first purchase. </a:t>
            </a:r>
            <a:endParaRPr lang="en-IN" dirty="0"/>
          </a:p>
        </p:txBody>
      </p:sp>
      <p:sp>
        <p:nvSpPr>
          <p:cNvPr id="7" name="TextBox 6">
            <a:extLst>
              <a:ext uri="{FF2B5EF4-FFF2-40B4-BE49-F238E27FC236}">
                <a16:creationId xmlns:a16="http://schemas.microsoft.com/office/drawing/2014/main" id="{53D7667E-521B-40E3-CB12-807928B1642C}"/>
              </a:ext>
            </a:extLst>
          </p:cNvPr>
          <p:cNvSpPr txBox="1"/>
          <p:nvPr/>
        </p:nvSpPr>
        <p:spPr>
          <a:xfrm>
            <a:off x="228600" y="956994"/>
            <a:ext cx="120396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sp>
        <p:nvSpPr>
          <p:cNvPr id="2" name="TextBox 1">
            <a:extLst>
              <a:ext uri="{FF2B5EF4-FFF2-40B4-BE49-F238E27FC236}">
                <a16:creationId xmlns:a16="http://schemas.microsoft.com/office/drawing/2014/main" id="{C91E9242-AA56-E951-AF34-88E7439BE227}"/>
              </a:ext>
            </a:extLst>
          </p:cNvPr>
          <p:cNvSpPr txBox="1"/>
          <p:nvPr/>
        </p:nvSpPr>
        <p:spPr>
          <a:xfrm>
            <a:off x="228600" y="1763374"/>
            <a:ext cx="2026920" cy="369332"/>
          </a:xfrm>
          <a:prstGeom prst="rect">
            <a:avLst/>
          </a:prstGeom>
          <a:noFill/>
        </p:spPr>
        <p:txBody>
          <a:bodyPr wrap="square" rtlCol="0">
            <a:spAutoFit/>
          </a:bodyPr>
          <a:lstStyle/>
          <a:p>
            <a:r>
              <a:rPr lang="en-US" dirty="0">
                <a:solidFill>
                  <a:srgbClr val="26262F"/>
                </a:solidFill>
                <a:latin typeface="Arial" panose="020B0604020202020204" pitchFamily="34" charset="0"/>
              </a:rPr>
              <a:t>Ans-</a:t>
            </a:r>
            <a:r>
              <a:rPr lang="en-US" dirty="0"/>
              <a:t> </a:t>
            </a:r>
            <a:r>
              <a:rPr lang="en-US" dirty="0">
                <a:solidFill>
                  <a:srgbClr val="26262F"/>
                </a:solidFill>
                <a:latin typeface="Arial" panose="020B0604020202020204" pitchFamily="34" charset="0"/>
              </a:rPr>
              <a:t>1.6307</a:t>
            </a:r>
            <a:endParaRPr lang="en-IN" dirty="0">
              <a:solidFill>
                <a:srgbClr val="26262F"/>
              </a:solidFill>
              <a:latin typeface="Arial" panose="020B0604020202020204" pitchFamily="34" charset="0"/>
            </a:endParaRPr>
          </a:p>
        </p:txBody>
      </p:sp>
    </p:spTree>
    <p:extLst>
      <p:ext uri="{BB962C8B-B14F-4D97-AF65-F5344CB8AC3E}">
        <p14:creationId xmlns:p14="http://schemas.microsoft.com/office/powerpoint/2010/main" val="2084557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3565-D538-7CEE-AEA5-A62C5CFC76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5C69E0-8918-86E6-2D16-791A70975DA5}"/>
              </a:ext>
            </a:extLst>
          </p:cNvPr>
          <p:cNvSpPr txBox="1"/>
          <p:nvPr/>
        </p:nvSpPr>
        <p:spPr>
          <a:xfrm>
            <a:off x="228600" y="150614"/>
            <a:ext cx="2545080"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Advanced Problem</a:t>
            </a:r>
            <a:endParaRPr lang="en-IN" dirty="0"/>
          </a:p>
        </p:txBody>
      </p:sp>
      <p:sp>
        <p:nvSpPr>
          <p:cNvPr id="5" name="TextBox 4">
            <a:extLst>
              <a:ext uri="{FF2B5EF4-FFF2-40B4-BE49-F238E27FC236}">
                <a16:creationId xmlns:a16="http://schemas.microsoft.com/office/drawing/2014/main" id="{CF0B15D4-A0FC-7A40-CD7D-D2D034016D2F}"/>
              </a:ext>
            </a:extLst>
          </p:cNvPr>
          <p:cNvSpPr txBox="1"/>
          <p:nvPr/>
        </p:nvSpPr>
        <p:spPr>
          <a:xfrm>
            <a:off x="830580" y="547532"/>
            <a:ext cx="14333220" cy="646331"/>
          </a:xfrm>
          <a:prstGeom prst="rect">
            <a:avLst/>
          </a:prstGeom>
          <a:noFill/>
        </p:spPr>
        <p:txBody>
          <a:bodyPr wrap="square">
            <a:spAutoFit/>
          </a:bodyPr>
          <a:lstStyle/>
          <a:p>
            <a:pPr marL="5296" marR="6256833" rtl="0">
              <a:spcBef>
                <a:spcPts val="145"/>
              </a:spcBef>
            </a:pPr>
            <a:r>
              <a:rPr lang="en-US" dirty="0">
                <a:solidFill>
                  <a:srgbClr val="26262F"/>
                </a:solidFill>
                <a:latin typeface="Arial" panose="020B0604020202020204" pitchFamily="34" charset="0"/>
              </a:rPr>
              <a:t>I</a:t>
            </a:r>
            <a:r>
              <a:rPr lang="en-US" sz="1800" b="0" i="0" u="none" strike="noStrike" dirty="0">
                <a:solidFill>
                  <a:srgbClr val="26262F"/>
                </a:solidFill>
                <a:effectLst/>
                <a:latin typeface="Arial" panose="020B0604020202020204" pitchFamily="34" charset="0"/>
              </a:rPr>
              <a:t>dentify the top 3 customers who spent the most money in each year.</a:t>
            </a:r>
            <a:br>
              <a:rPr lang="en-US" dirty="0"/>
            </a:br>
            <a:endParaRPr lang="en-IN" dirty="0"/>
          </a:p>
        </p:txBody>
      </p:sp>
      <p:sp>
        <p:nvSpPr>
          <p:cNvPr id="7" name="TextBox 6">
            <a:extLst>
              <a:ext uri="{FF2B5EF4-FFF2-40B4-BE49-F238E27FC236}">
                <a16:creationId xmlns:a16="http://schemas.microsoft.com/office/drawing/2014/main" id="{49C4BF47-F4AA-32E1-0D89-A0DE28355CCD}"/>
              </a:ext>
            </a:extLst>
          </p:cNvPr>
          <p:cNvSpPr txBox="1"/>
          <p:nvPr/>
        </p:nvSpPr>
        <p:spPr>
          <a:xfrm>
            <a:off x="141196" y="519946"/>
            <a:ext cx="1203960" cy="369332"/>
          </a:xfrm>
          <a:prstGeom prst="rect">
            <a:avLst/>
          </a:prstGeom>
          <a:noFill/>
        </p:spPr>
        <p:txBody>
          <a:bodyPr wrap="square">
            <a:spAutoFit/>
          </a:bodyPr>
          <a:lstStyle/>
          <a:p>
            <a:r>
              <a:rPr lang="en-US" sz="1800" dirty="0">
                <a:solidFill>
                  <a:srgbClr val="26262F"/>
                </a:solidFill>
                <a:latin typeface="Arial" panose="020B0604020202020204" pitchFamily="34" charset="0"/>
              </a:rPr>
              <a:t>Ques-</a:t>
            </a:r>
            <a:endParaRPr lang="en-IN" dirty="0"/>
          </a:p>
        </p:txBody>
      </p:sp>
      <p:pic>
        <p:nvPicPr>
          <p:cNvPr id="4" name="Picture 3">
            <a:extLst>
              <a:ext uri="{FF2B5EF4-FFF2-40B4-BE49-F238E27FC236}">
                <a16:creationId xmlns:a16="http://schemas.microsoft.com/office/drawing/2014/main" id="{C0339691-69CA-40C1-B578-C588C47E8111}"/>
              </a:ext>
            </a:extLst>
          </p:cNvPr>
          <p:cNvPicPr>
            <a:picLocks noChangeAspect="1"/>
          </p:cNvPicPr>
          <p:nvPr/>
        </p:nvPicPr>
        <p:blipFill>
          <a:blip r:embed="rId2"/>
          <a:stretch>
            <a:fillRect/>
          </a:stretch>
        </p:blipFill>
        <p:spPr>
          <a:xfrm>
            <a:off x="6091237" y="3424237"/>
            <a:ext cx="9526" cy="9526"/>
          </a:xfrm>
          <a:prstGeom prst="rect">
            <a:avLst/>
          </a:prstGeom>
        </p:spPr>
      </p:pic>
      <p:pic>
        <p:nvPicPr>
          <p:cNvPr id="8" name="Picture 7">
            <a:extLst>
              <a:ext uri="{FF2B5EF4-FFF2-40B4-BE49-F238E27FC236}">
                <a16:creationId xmlns:a16="http://schemas.microsoft.com/office/drawing/2014/main" id="{483B9ACD-0B2A-B869-63EF-E80F0FE061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313" y="1439547"/>
            <a:ext cx="5083629" cy="2435689"/>
          </a:xfrm>
          <a:prstGeom prst="rect">
            <a:avLst/>
          </a:prstGeom>
        </p:spPr>
      </p:pic>
      <p:sp>
        <p:nvSpPr>
          <p:cNvPr id="2" name="Rectangle 1">
            <a:extLst>
              <a:ext uri="{FF2B5EF4-FFF2-40B4-BE49-F238E27FC236}">
                <a16:creationId xmlns:a16="http://schemas.microsoft.com/office/drawing/2014/main" id="{530021BF-AA5D-347C-F664-3FF24AE8BE34}"/>
              </a:ext>
            </a:extLst>
          </p:cNvPr>
          <p:cNvSpPr/>
          <p:nvPr/>
        </p:nvSpPr>
        <p:spPr>
          <a:xfrm>
            <a:off x="213360" y="4681616"/>
            <a:ext cx="4710317" cy="171268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200" dirty="0" err="1">
                <a:solidFill>
                  <a:srgbClr val="00B0F0"/>
                </a:solidFill>
              </a:rPr>
              <a:t>plt.figure</a:t>
            </a:r>
            <a:r>
              <a:rPr lang="en-US" sz="1200" dirty="0">
                <a:solidFill>
                  <a:srgbClr val="00B0F0"/>
                </a:solidFill>
              </a:rPr>
              <a:t>(</a:t>
            </a:r>
            <a:r>
              <a:rPr lang="en-US" sz="1200" dirty="0" err="1">
                <a:solidFill>
                  <a:srgbClr val="00B0F0"/>
                </a:solidFill>
              </a:rPr>
              <a:t>figsize</a:t>
            </a:r>
            <a:r>
              <a:rPr lang="en-US" sz="1200" dirty="0">
                <a:solidFill>
                  <a:srgbClr val="00B0F0"/>
                </a:solidFill>
              </a:rPr>
              <a:t>=(5,3))</a:t>
            </a:r>
          </a:p>
          <a:p>
            <a:r>
              <a:rPr lang="en-US" sz="1200" dirty="0" err="1">
                <a:solidFill>
                  <a:srgbClr val="00B0F0"/>
                </a:solidFill>
              </a:rPr>
              <a:t>sns.barplot</a:t>
            </a:r>
            <a:r>
              <a:rPr lang="en-US" sz="1200" dirty="0">
                <a:solidFill>
                  <a:srgbClr val="00B0F0"/>
                </a:solidFill>
              </a:rPr>
              <a:t>(data=</a:t>
            </a:r>
            <a:r>
              <a:rPr lang="en-US" sz="1200" dirty="0" err="1">
                <a:solidFill>
                  <a:srgbClr val="00B0F0"/>
                </a:solidFill>
              </a:rPr>
              <a:t>YOY_top_customer,x</a:t>
            </a:r>
            <a:r>
              <a:rPr lang="en-US" sz="1200" dirty="0">
                <a:solidFill>
                  <a:srgbClr val="00B0F0"/>
                </a:solidFill>
              </a:rPr>
              <a:t>='</a:t>
            </a:r>
            <a:r>
              <a:rPr lang="en-US" sz="1200" dirty="0" err="1">
                <a:solidFill>
                  <a:srgbClr val="00B0F0"/>
                </a:solidFill>
              </a:rPr>
              <a:t>Total_rev',y</a:t>
            </a:r>
            <a:r>
              <a:rPr lang="en-US" sz="1200" dirty="0">
                <a:solidFill>
                  <a:srgbClr val="00B0F0"/>
                </a:solidFill>
              </a:rPr>
              <a:t>='</a:t>
            </a:r>
            <a:r>
              <a:rPr lang="en-US" sz="1200" dirty="0" err="1">
                <a:solidFill>
                  <a:srgbClr val="00B0F0"/>
                </a:solidFill>
              </a:rPr>
              <a:t>customer_unique_id',hue</a:t>
            </a:r>
            <a:r>
              <a:rPr lang="en-US" sz="1200" dirty="0">
                <a:solidFill>
                  <a:srgbClr val="00B0F0"/>
                </a:solidFill>
              </a:rPr>
              <a:t>='</a:t>
            </a:r>
            <a:r>
              <a:rPr lang="en-US" sz="1200" dirty="0" err="1">
                <a:solidFill>
                  <a:srgbClr val="00B0F0"/>
                </a:solidFill>
              </a:rPr>
              <a:t>order_purchase_year',palette</a:t>
            </a:r>
            <a:r>
              <a:rPr lang="en-US" sz="1200" dirty="0">
                <a:solidFill>
                  <a:srgbClr val="00B0F0"/>
                </a:solidFill>
              </a:rPr>
              <a:t>=['</a:t>
            </a:r>
            <a:r>
              <a:rPr lang="en-US" sz="1200" dirty="0" err="1">
                <a:solidFill>
                  <a:srgbClr val="00B0F0"/>
                </a:solidFill>
              </a:rPr>
              <a:t>green','blue','yellow</a:t>
            </a:r>
            <a:r>
              <a:rPr lang="en-US" sz="1200" dirty="0">
                <a:solidFill>
                  <a:srgbClr val="00B0F0"/>
                </a:solidFill>
              </a:rPr>
              <a:t>'])</a:t>
            </a:r>
          </a:p>
          <a:p>
            <a:r>
              <a:rPr lang="en-US" sz="1200" dirty="0" err="1">
                <a:solidFill>
                  <a:srgbClr val="00B0F0"/>
                </a:solidFill>
              </a:rPr>
              <a:t>plt.title</a:t>
            </a:r>
            <a:r>
              <a:rPr lang="en-US" sz="1200" dirty="0">
                <a:solidFill>
                  <a:srgbClr val="00B0F0"/>
                </a:solidFill>
              </a:rPr>
              <a:t>('</a:t>
            </a:r>
            <a:r>
              <a:rPr lang="en-US" sz="1200" dirty="0" err="1">
                <a:solidFill>
                  <a:srgbClr val="00B0F0"/>
                </a:solidFill>
              </a:rPr>
              <a:t>YOY_top_customer</a:t>
            </a:r>
            <a:r>
              <a:rPr lang="en-US" sz="1200" dirty="0">
                <a:solidFill>
                  <a:srgbClr val="00B0F0"/>
                </a:solidFill>
              </a:rPr>
              <a:t>')</a:t>
            </a:r>
          </a:p>
        </p:txBody>
      </p:sp>
      <p:sp>
        <p:nvSpPr>
          <p:cNvPr id="6" name="Rectangle 5">
            <a:extLst>
              <a:ext uri="{FF2B5EF4-FFF2-40B4-BE49-F238E27FC236}">
                <a16:creationId xmlns:a16="http://schemas.microsoft.com/office/drawing/2014/main" id="{4212E4D0-F351-B325-1E9E-A035DAE3CBC8}"/>
              </a:ext>
            </a:extLst>
          </p:cNvPr>
          <p:cNvSpPr/>
          <p:nvPr/>
        </p:nvSpPr>
        <p:spPr>
          <a:xfrm>
            <a:off x="6479790" y="889278"/>
            <a:ext cx="4710317" cy="3206746"/>
          </a:xfrm>
          <a:prstGeom prst="rect">
            <a:avLst/>
          </a:prstGeom>
        </p:spPr>
        <p:style>
          <a:lnRef idx="2">
            <a:schemeClr val="accent1">
              <a:shade val="15000"/>
            </a:schemeClr>
          </a:lnRef>
          <a:fillRef idx="1003">
            <a:schemeClr val="lt1"/>
          </a:fillRef>
          <a:effectRef idx="0">
            <a:schemeClr val="accent1"/>
          </a:effectRef>
          <a:fontRef idx="minor">
            <a:schemeClr val="lt1"/>
          </a:fontRef>
        </p:style>
        <p:txBody>
          <a:bodyPr rtlCol="0" anchor="ctr"/>
          <a:lstStyle/>
          <a:p>
            <a:r>
              <a:rPr lang="en-US" sz="1000" dirty="0">
                <a:solidFill>
                  <a:srgbClr val="00B0F0"/>
                </a:solidFill>
              </a:rPr>
              <a:t>WITH </a:t>
            </a:r>
            <a:r>
              <a:rPr lang="en-US" sz="1000" dirty="0" err="1">
                <a:solidFill>
                  <a:srgbClr val="00B0F0"/>
                </a:solidFill>
              </a:rPr>
              <a:t>first_purchase</a:t>
            </a:r>
            <a:r>
              <a:rPr lang="en-US" sz="1000" dirty="0">
                <a:solidFill>
                  <a:srgbClr val="00B0F0"/>
                </a:solidFill>
              </a:rPr>
              <a:t> AS </a:t>
            </a:r>
          </a:p>
          <a:p>
            <a:r>
              <a:rPr lang="en-US" sz="1000" dirty="0">
                <a:solidFill>
                  <a:srgbClr val="00B0F0"/>
                </a:solidFill>
              </a:rPr>
              <a:t>(    SELECT         </a:t>
            </a:r>
            <a:r>
              <a:rPr lang="en-US" sz="1000" dirty="0" err="1">
                <a:solidFill>
                  <a:srgbClr val="00B0F0"/>
                </a:solidFill>
              </a:rPr>
              <a:t>c.customer_unique_id</a:t>
            </a:r>
            <a:r>
              <a:rPr lang="en-US" sz="1000" dirty="0">
                <a:solidFill>
                  <a:srgbClr val="00B0F0"/>
                </a:solidFill>
              </a:rPr>
              <a:t>,        MIN(</a:t>
            </a:r>
            <a:r>
              <a:rPr lang="en-US" sz="1000" dirty="0" err="1">
                <a:solidFill>
                  <a:srgbClr val="00B0F0"/>
                </a:solidFill>
              </a:rPr>
              <a:t>o.order_purchase_date</a:t>
            </a:r>
            <a:r>
              <a:rPr lang="en-US" sz="1000" dirty="0">
                <a:solidFill>
                  <a:srgbClr val="00B0F0"/>
                </a:solidFill>
              </a:rPr>
              <a:t>) AS </a:t>
            </a:r>
            <a:r>
              <a:rPr lang="en-US" sz="1000" dirty="0" err="1">
                <a:solidFill>
                  <a:srgbClr val="00B0F0"/>
                </a:solidFill>
              </a:rPr>
              <a:t>first_purchase_date</a:t>
            </a:r>
            <a:r>
              <a:rPr lang="en-US" sz="1000" dirty="0">
                <a:solidFill>
                  <a:srgbClr val="00B0F0"/>
                </a:solidFill>
              </a:rPr>
              <a:t>    </a:t>
            </a:r>
          </a:p>
          <a:p>
            <a:r>
              <a:rPr lang="en-US" sz="1000" dirty="0">
                <a:solidFill>
                  <a:srgbClr val="00B0F0"/>
                </a:solidFill>
              </a:rPr>
              <a:t>FROM orders o    </a:t>
            </a:r>
          </a:p>
          <a:p>
            <a:r>
              <a:rPr lang="en-US" sz="1000" dirty="0">
                <a:solidFill>
                  <a:srgbClr val="00B0F0"/>
                </a:solidFill>
              </a:rPr>
              <a:t>JOIN customers c         ON </a:t>
            </a:r>
            <a:r>
              <a:rPr lang="en-US" sz="1000" dirty="0" err="1">
                <a:solidFill>
                  <a:srgbClr val="00B0F0"/>
                </a:solidFill>
              </a:rPr>
              <a:t>o.customer_id</a:t>
            </a:r>
            <a:r>
              <a:rPr lang="en-US" sz="1000" dirty="0">
                <a:solidFill>
                  <a:srgbClr val="00B0F0"/>
                </a:solidFill>
              </a:rPr>
              <a:t> = </a:t>
            </a:r>
            <a:r>
              <a:rPr lang="en-US" sz="1000" dirty="0" err="1">
                <a:solidFill>
                  <a:srgbClr val="00B0F0"/>
                </a:solidFill>
              </a:rPr>
              <a:t>c.customer_id</a:t>
            </a:r>
            <a:r>
              <a:rPr lang="en-US" sz="1000" dirty="0">
                <a:solidFill>
                  <a:srgbClr val="00B0F0"/>
                </a:solidFill>
              </a:rPr>
              <a:t>    </a:t>
            </a:r>
          </a:p>
          <a:p>
            <a:r>
              <a:rPr lang="en-US" sz="1000" dirty="0">
                <a:solidFill>
                  <a:srgbClr val="00B0F0"/>
                </a:solidFill>
              </a:rPr>
              <a:t>WHERE </a:t>
            </a:r>
            <a:r>
              <a:rPr lang="en-US" sz="1000" dirty="0" err="1">
                <a:solidFill>
                  <a:srgbClr val="00B0F0"/>
                </a:solidFill>
              </a:rPr>
              <a:t>o.order_status</a:t>
            </a:r>
            <a:r>
              <a:rPr lang="en-US" sz="1000" dirty="0">
                <a:solidFill>
                  <a:srgbClr val="00B0F0"/>
                </a:solidFill>
              </a:rPr>
              <a:t> </a:t>
            </a:r>
          </a:p>
          <a:p>
            <a:r>
              <a:rPr lang="en-US" sz="1000" dirty="0">
                <a:solidFill>
                  <a:srgbClr val="00B0F0"/>
                </a:solidFill>
              </a:rPr>
              <a:t>NOT IN ('</a:t>
            </a:r>
            <a:r>
              <a:rPr lang="en-US" sz="1000" dirty="0" err="1">
                <a:solidFill>
                  <a:srgbClr val="00B0F0"/>
                </a:solidFill>
              </a:rPr>
              <a:t>canceled','unavailable</a:t>
            </a:r>
            <a:r>
              <a:rPr lang="en-US" sz="1000" dirty="0">
                <a:solidFill>
                  <a:srgbClr val="00B0F0"/>
                </a:solidFill>
              </a:rPr>
              <a:t>')    </a:t>
            </a:r>
          </a:p>
          <a:p>
            <a:r>
              <a:rPr lang="en-US" sz="1000" dirty="0">
                <a:solidFill>
                  <a:srgbClr val="00B0F0"/>
                </a:solidFill>
              </a:rPr>
              <a:t>GROUP BY </a:t>
            </a:r>
            <a:r>
              <a:rPr lang="en-US" sz="1000" dirty="0" err="1">
                <a:solidFill>
                  <a:srgbClr val="00B0F0"/>
                </a:solidFill>
              </a:rPr>
              <a:t>c.customer_unique_id</a:t>
            </a:r>
            <a:r>
              <a:rPr lang="en-US" sz="1000" dirty="0">
                <a:solidFill>
                  <a:srgbClr val="00B0F0"/>
                </a:solidFill>
              </a:rPr>
              <a:t>),</a:t>
            </a:r>
            <a:r>
              <a:rPr lang="en-US" sz="1000" dirty="0" err="1">
                <a:solidFill>
                  <a:srgbClr val="00B0F0"/>
                </a:solidFill>
              </a:rPr>
              <a:t>retained_customers</a:t>
            </a:r>
            <a:r>
              <a:rPr lang="en-US" sz="1000" dirty="0">
                <a:solidFill>
                  <a:srgbClr val="00B0F0"/>
                </a:solidFill>
              </a:rPr>
              <a:t> AS </a:t>
            </a:r>
          </a:p>
          <a:p>
            <a:r>
              <a:rPr lang="en-US" sz="1000" dirty="0">
                <a:solidFill>
                  <a:srgbClr val="00B0F0"/>
                </a:solidFill>
              </a:rPr>
              <a:t>(    SELECT DISTINCT        </a:t>
            </a:r>
            <a:r>
              <a:rPr lang="en-US" sz="1000" dirty="0" err="1">
                <a:solidFill>
                  <a:srgbClr val="00B0F0"/>
                </a:solidFill>
              </a:rPr>
              <a:t>fp.customer_unique_id</a:t>
            </a:r>
            <a:r>
              <a:rPr lang="en-US" sz="1000" dirty="0">
                <a:solidFill>
                  <a:srgbClr val="00B0F0"/>
                </a:solidFill>
              </a:rPr>
              <a:t>    </a:t>
            </a:r>
          </a:p>
          <a:p>
            <a:r>
              <a:rPr lang="en-US" sz="1000" dirty="0">
                <a:solidFill>
                  <a:srgbClr val="00B0F0"/>
                </a:solidFill>
              </a:rPr>
              <a:t>FROM </a:t>
            </a:r>
            <a:r>
              <a:rPr lang="en-US" sz="1000" dirty="0" err="1">
                <a:solidFill>
                  <a:srgbClr val="00B0F0"/>
                </a:solidFill>
              </a:rPr>
              <a:t>first_purchase</a:t>
            </a:r>
            <a:r>
              <a:rPr lang="en-US" sz="1000" dirty="0">
                <a:solidFill>
                  <a:srgbClr val="00B0F0"/>
                </a:solidFill>
              </a:rPr>
              <a:t> </a:t>
            </a:r>
            <a:r>
              <a:rPr lang="en-US" sz="1000" dirty="0" err="1">
                <a:solidFill>
                  <a:srgbClr val="00B0F0"/>
                </a:solidFill>
              </a:rPr>
              <a:t>fp</a:t>
            </a:r>
            <a:r>
              <a:rPr lang="en-US" sz="1000" dirty="0">
                <a:solidFill>
                  <a:srgbClr val="00B0F0"/>
                </a:solidFill>
              </a:rPr>
              <a:t>   </a:t>
            </a:r>
          </a:p>
          <a:p>
            <a:r>
              <a:rPr lang="en-US" sz="1000" dirty="0">
                <a:solidFill>
                  <a:srgbClr val="00B0F0"/>
                </a:solidFill>
              </a:rPr>
              <a:t> JOIN orders o        ON </a:t>
            </a:r>
            <a:r>
              <a:rPr lang="en-US" sz="1000" dirty="0" err="1">
                <a:solidFill>
                  <a:srgbClr val="00B0F0"/>
                </a:solidFill>
              </a:rPr>
              <a:t>o.order_purchase_date</a:t>
            </a:r>
            <a:r>
              <a:rPr lang="en-US" sz="1000" dirty="0">
                <a:solidFill>
                  <a:srgbClr val="00B0F0"/>
                </a:solidFill>
              </a:rPr>
              <a:t> &gt; </a:t>
            </a:r>
            <a:r>
              <a:rPr lang="en-US" sz="1000" dirty="0" err="1">
                <a:solidFill>
                  <a:srgbClr val="00B0F0"/>
                </a:solidFill>
              </a:rPr>
              <a:t>fp.first_purchase_date</a:t>
            </a:r>
            <a:r>
              <a:rPr lang="en-US" sz="1000" dirty="0">
                <a:solidFill>
                  <a:srgbClr val="00B0F0"/>
                </a:solidFill>
              </a:rPr>
              <a:t>        AND </a:t>
            </a:r>
            <a:r>
              <a:rPr lang="en-US" sz="1000" dirty="0" err="1">
                <a:solidFill>
                  <a:srgbClr val="00B0F0"/>
                </a:solidFill>
              </a:rPr>
              <a:t>o.order_purchase_date</a:t>
            </a:r>
            <a:r>
              <a:rPr lang="en-US" sz="1000" dirty="0">
                <a:solidFill>
                  <a:srgbClr val="00B0F0"/>
                </a:solidFill>
              </a:rPr>
              <a:t> &lt;= DATE_ADD(</a:t>
            </a:r>
            <a:r>
              <a:rPr lang="en-US" sz="1000" dirty="0" err="1">
                <a:solidFill>
                  <a:srgbClr val="00B0F0"/>
                </a:solidFill>
              </a:rPr>
              <a:t>fp.first_purchase_date</a:t>
            </a:r>
            <a:r>
              <a:rPr lang="en-US" sz="1000" dirty="0">
                <a:solidFill>
                  <a:srgbClr val="00B0F0"/>
                </a:solidFill>
              </a:rPr>
              <a:t>, INTERVAL 180 DAY)    </a:t>
            </a:r>
          </a:p>
          <a:p>
            <a:r>
              <a:rPr lang="en-US" sz="1000" dirty="0">
                <a:solidFill>
                  <a:srgbClr val="00B0F0"/>
                </a:solidFill>
              </a:rPr>
              <a:t>JOIN customers c        ON </a:t>
            </a:r>
            <a:r>
              <a:rPr lang="en-US" sz="1000" dirty="0" err="1">
                <a:solidFill>
                  <a:srgbClr val="00B0F0"/>
                </a:solidFill>
              </a:rPr>
              <a:t>o.customer_id</a:t>
            </a:r>
            <a:r>
              <a:rPr lang="en-US" sz="1000" dirty="0">
                <a:solidFill>
                  <a:srgbClr val="00B0F0"/>
                </a:solidFill>
              </a:rPr>
              <a:t> = </a:t>
            </a:r>
            <a:r>
              <a:rPr lang="en-US" sz="1000" dirty="0" err="1">
                <a:solidFill>
                  <a:srgbClr val="00B0F0"/>
                </a:solidFill>
              </a:rPr>
              <a:t>c.customer_id</a:t>
            </a:r>
            <a:r>
              <a:rPr lang="en-US" sz="1000" dirty="0">
                <a:solidFill>
                  <a:srgbClr val="00B0F0"/>
                </a:solidFill>
              </a:rPr>
              <a:t>        AND </a:t>
            </a:r>
            <a:r>
              <a:rPr lang="en-US" sz="1000" dirty="0" err="1">
                <a:solidFill>
                  <a:srgbClr val="00B0F0"/>
                </a:solidFill>
              </a:rPr>
              <a:t>c.customer_unique_id</a:t>
            </a:r>
            <a:r>
              <a:rPr lang="en-US" sz="1000" dirty="0">
                <a:solidFill>
                  <a:srgbClr val="00B0F0"/>
                </a:solidFill>
              </a:rPr>
              <a:t> = </a:t>
            </a:r>
            <a:r>
              <a:rPr lang="en-US" sz="1000" dirty="0" err="1">
                <a:solidFill>
                  <a:srgbClr val="00B0F0"/>
                </a:solidFill>
              </a:rPr>
              <a:t>fp.customer_unique_id</a:t>
            </a:r>
            <a:r>
              <a:rPr lang="en-US" sz="1000" dirty="0">
                <a:solidFill>
                  <a:srgbClr val="00B0F0"/>
                </a:solidFill>
              </a:rPr>
              <a:t>   </a:t>
            </a:r>
          </a:p>
          <a:p>
            <a:r>
              <a:rPr lang="en-US" sz="1000" dirty="0">
                <a:solidFill>
                  <a:srgbClr val="00B0F0"/>
                </a:solidFill>
              </a:rPr>
              <a:t> WHERE </a:t>
            </a:r>
            <a:r>
              <a:rPr lang="en-US" sz="1000" dirty="0" err="1">
                <a:solidFill>
                  <a:srgbClr val="00B0F0"/>
                </a:solidFill>
              </a:rPr>
              <a:t>o.order_status</a:t>
            </a:r>
            <a:r>
              <a:rPr lang="en-US" sz="1000" dirty="0">
                <a:solidFill>
                  <a:srgbClr val="00B0F0"/>
                </a:solidFill>
              </a:rPr>
              <a:t> </a:t>
            </a:r>
          </a:p>
          <a:p>
            <a:r>
              <a:rPr lang="en-US" sz="1200" dirty="0">
                <a:solidFill>
                  <a:srgbClr val="00B0F0"/>
                </a:solidFill>
              </a:rPr>
              <a:t>NOT IN ('</a:t>
            </a:r>
            <a:r>
              <a:rPr lang="en-US" sz="1200" dirty="0" err="1">
                <a:solidFill>
                  <a:srgbClr val="00B0F0"/>
                </a:solidFill>
              </a:rPr>
              <a:t>canceled','unavailable</a:t>
            </a:r>
            <a:r>
              <a:rPr lang="en-US" sz="1200" dirty="0">
                <a:solidFill>
                  <a:srgbClr val="00B0F0"/>
                </a:solidFill>
              </a:rPr>
              <a:t>'))SELECT (COUNT(*)/(select count(distinct </a:t>
            </a:r>
            <a:r>
              <a:rPr lang="en-US" sz="1200" dirty="0" err="1">
                <a:solidFill>
                  <a:srgbClr val="00B0F0"/>
                </a:solidFill>
              </a:rPr>
              <a:t>customer_unique_id</a:t>
            </a:r>
            <a:r>
              <a:rPr lang="en-US" sz="1200" dirty="0">
                <a:solidFill>
                  <a:srgbClr val="00B0F0"/>
                </a:solidFill>
              </a:rPr>
              <a:t>) </a:t>
            </a:r>
          </a:p>
          <a:p>
            <a:r>
              <a:rPr lang="en-US" sz="1200" dirty="0">
                <a:solidFill>
                  <a:srgbClr val="00B0F0"/>
                </a:solidFill>
              </a:rPr>
              <a:t>from customers))*100 AS </a:t>
            </a:r>
            <a:r>
              <a:rPr lang="en-US" sz="1200" dirty="0" err="1">
                <a:solidFill>
                  <a:srgbClr val="00B0F0"/>
                </a:solidFill>
              </a:rPr>
              <a:t>retained_customers</a:t>
            </a:r>
            <a:endParaRPr lang="en-US" sz="1200" dirty="0">
              <a:solidFill>
                <a:srgbClr val="00B0F0"/>
              </a:solidFill>
            </a:endParaRPr>
          </a:p>
          <a:p>
            <a:r>
              <a:rPr lang="en-US" sz="1200" dirty="0">
                <a:solidFill>
                  <a:srgbClr val="00B0F0"/>
                </a:solidFill>
              </a:rPr>
              <a:t>FROM </a:t>
            </a:r>
            <a:r>
              <a:rPr lang="en-US" sz="1200" dirty="0" err="1">
                <a:solidFill>
                  <a:srgbClr val="00B0F0"/>
                </a:solidFill>
              </a:rPr>
              <a:t>retained_customers</a:t>
            </a:r>
            <a:r>
              <a:rPr lang="en-US" sz="1200" dirty="0">
                <a:solidFill>
                  <a:srgbClr val="00B0F0"/>
                </a:solidFill>
              </a:rPr>
              <a:t>;</a:t>
            </a:r>
          </a:p>
        </p:txBody>
      </p:sp>
      <p:pic>
        <p:nvPicPr>
          <p:cNvPr id="13" name="Picture 12">
            <a:extLst>
              <a:ext uri="{FF2B5EF4-FFF2-40B4-BE49-F238E27FC236}">
                <a16:creationId xmlns:a16="http://schemas.microsoft.com/office/drawing/2014/main" id="{12ADE7E7-509E-2EBE-B5E2-C44CF680CF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7788" y="4172232"/>
            <a:ext cx="6820852" cy="3012078"/>
          </a:xfrm>
          <a:prstGeom prst="rect">
            <a:avLst/>
          </a:prstGeom>
        </p:spPr>
      </p:pic>
    </p:spTree>
    <p:extLst>
      <p:ext uri="{BB962C8B-B14F-4D97-AF65-F5344CB8AC3E}">
        <p14:creationId xmlns:p14="http://schemas.microsoft.com/office/powerpoint/2010/main" val="3654106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D02F52-C41A-CCF4-6E8F-88109AA4785D}"/>
              </a:ext>
            </a:extLst>
          </p:cNvPr>
          <p:cNvSpPr txBox="1"/>
          <p:nvPr/>
        </p:nvSpPr>
        <p:spPr>
          <a:xfrm>
            <a:off x="2362200" y="0"/>
            <a:ext cx="5730240" cy="1323439"/>
          </a:xfrm>
          <a:prstGeom prst="rect">
            <a:avLst/>
          </a:prstGeom>
          <a:noFill/>
        </p:spPr>
        <p:txBody>
          <a:bodyPr wrap="square">
            <a:spAutoFit/>
          </a:bodyPr>
          <a:lstStyle/>
          <a:p>
            <a:r>
              <a:rPr lang="en-US" sz="8000" dirty="0"/>
              <a:t>INSIGHTS</a:t>
            </a:r>
            <a:endParaRPr lang="en-IN" sz="8000" dirty="0"/>
          </a:p>
        </p:txBody>
      </p:sp>
      <p:sp>
        <p:nvSpPr>
          <p:cNvPr id="5" name="TextBox 4">
            <a:extLst>
              <a:ext uri="{FF2B5EF4-FFF2-40B4-BE49-F238E27FC236}">
                <a16:creationId xmlns:a16="http://schemas.microsoft.com/office/drawing/2014/main" id="{72C153EC-B93A-AD6B-D534-49F1D4BF3826}"/>
              </a:ext>
            </a:extLst>
          </p:cNvPr>
          <p:cNvSpPr txBox="1"/>
          <p:nvPr/>
        </p:nvSpPr>
        <p:spPr>
          <a:xfrm>
            <a:off x="923109" y="1066203"/>
            <a:ext cx="10818948" cy="2862322"/>
          </a:xfrm>
          <a:prstGeom prst="rect">
            <a:avLst/>
          </a:prstGeom>
          <a:noFill/>
        </p:spPr>
        <p:txBody>
          <a:bodyPr wrap="square" rtlCol="0">
            <a:spAutoFit/>
          </a:bodyPr>
          <a:lstStyle/>
          <a:p>
            <a:endParaRPr lang="en-US" dirty="0"/>
          </a:p>
          <a:p>
            <a:r>
              <a:rPr lang="en-US" b="1" dirty="0"/>
              <a:t>Sales Analysis</a:t>
            </a:r>
          </a:p>
          <a:p>
            <a:pPr marL="342900" indent="-342900">
              <a:buFont typeface="+mj-lt"/>
              <a:buAutoNum type="arabicPeriod"/>
            </a:pPr>
            <a:r>
              <a:rPr lang="en-US" dirty="0"/>
              <a:t>Approx 52% of total orders were made using installment payment method</a:t>
            </a:r>
          </a:p>
          <a:p>
            <a:pPr marL="342900" indent="-342900">
              <a:buFont typeface="+mj-lt"/>
              <a:buAutoNum type="arabicPeriod"/>
            </a:pPr>
            <a:r>
              <a:rPr lang="en-US" dirty="0"/>
              <a:t>The demand for number of orders in each month of 2018 are almost stagnant. There is no such a simple growth rate, peak or decline season.</a:t>
            </a:r>
          </a:p>
          <a:p>
            <a:pPr marL="342900" indent="-342900">
              <a:buFont typeface="+mj-lt"/>
              <a:buAutoNum type="arabicPeriod"/>
            </a:pPr>
            <a:r>
              <a:rPr lang="en-US" dirty="0"/>
              <a:t>Padre </a:t>
            </a:r>
            <a:r>
              <a:rPr lang="en-US" dirty="0" err="1"/>
              <a:t>Carvalto</a:t>
            </a:r>
            <a:r>
              <a:rPr lang="en-US" dirty="0"/>
              <a:t> is a city recorded highest average order value per transaction indicates </a:t>
            </a:r>
            <a:r>
              <a:rPr lang="en-US" dirty="0" err="1"/>
              <a:t>strnonger</a:t>
            </a:r>
            <a:r>
              <a:rPr lang="en-US" dirty="0"/>
              <a:t> purchasing power.</a:t>
            </a:r>
          </a:p>
          <a:p>
            <a:pPr marL="342900" indent="-342900">
              <a:buFont typeface="+mj-lt"/>
              <a:buAutoNum type="arabicPeriod"/>
            </a:pPr>
            <a:r>
              <a:rPr lang="en-IN" dirty="0"/>
              <a:t>Moving</a:t>
            </a:r>
            <a:r>
              <a:rPr lang="en-IN" sz="1800" dirty="0">
                <a:latin typeface="Arial" panose="020B0604020202020204" pitchFamily="34" charset="0"/>
                <a:cs typeface="Arial" panose="020B0604020202020204" pitchFamily="34" charset="0"/>
              </a:rPr>
              <a:t> averages </a:t>
            </a:r>
            <a:r>
              <a:rPr lang="en-IN" dirty="0"/>
              <a:t>show</a:t>
            </a:r>
            <a:r>
              <a:rPr lang="en-IN" sz="1800" dirty="0">
                <a:latin typeface="Arial" panose="020B0604020202020204" pitchFamily="34" charset="0"/>
                <a:cs typeface="Arial" panose="020B0604020202020204" pitchFamily="34" charset="0"/>
              </a:rPr>
              <a:t> stable purchasing </a:t>
            </a:r>
            <a:r>
              <a:rPr lang="en-IN" sz="1800" dirty="0" err="1">
                <a:latin typeface="Arial" panose="020B0604020202020204" pitchFamily="34" charset="0"/>
                <a:cs typeface="Arial" panose="020B0604020202020204" pitchFamily="34" charset="0"/>
              </a:rPr>
              <a:t>behavior</a:t>
            </a:r>
            <a:r>
              <a:rPr lang="en-IN" sz="1800" dirty="0">
                <a:latin typeface="Arial" panose="020B0604020202020204" pitchFamily="34" charset="0"/>
                <a:cs typeface="Arial" panose="020B0604020202020204" pitchFamily="34" charset="0"/>
              </a:rPr>
              <a:t> with gradual increase over time.</a:t>
            </a:r>
          </a:p>
          <a:p>
            <a:pPr marL="342900" indent="-342900">
              <a:buFont typeface="+mj-lt"/>
              <a:buAutoNum type="arabicPeriod"/>
            </a:pPr>
            <a:endParaRPr lang="en-US" dirty="0"/>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360ED14A-6C4E-8ED0-06AC-9D62B22135DF}"/>
              </a:ext>
            </a:extLst>
          </p:cNvPr>
          <p:cNvSpPr txBox="1"/>
          <p:nvPr/>
        </p:nvSpPr>
        <p:spPr>
          <a:xfrm>
            <a:off x="923109" y="3429000"/>
            <a:ext cx="8351520" cy="3693319"/>
          </a:xfrm>
          <a:prstGeom prst="rect">
            <a:avLst/>
          </a:prstGeom>
          <a:noFill/>
        </p:spPr>
        <p:txBody>
          <a:bodyPr wrap="square" rtlCol="0">
            <a:spAutoFit/>
          </a:bodyPr>
          <a:lstStyle/>
          <a:p>
            <a:r>
              <a:rPr lang="en-US" b="1" dirty="0"/>
              <a:t>Customer Background</a:t>
            </a:r>
            <a:endParaRPr lang="en-US" dirty="0"/>
          </a:p>
          <a:p>
            <a:pPr marL="342900" indent="-342900">
              <a:buFont typeface="+mj-lt"/>
              <a:buAutoNum type="arabicPeriod"/>
            </a:pPr>
            <a:r>
              <a:rPr lang="en-US" dirty="0"/>
              <a:t>There is abnormal distribution of customer toward different states</a:t>
            </a:r>
          </a:p>
          <a:p>
            <a:pPr marL="342900" indent="-342900">
              <a:buFont typeface="+mj-lt"/>
              <a:buAutoNum type="arabicPeriod"/>
            </a:pPr>
            <a:r>
              <a:rPr lang="en-US" dirty="0"/>
              <a:t>Approximately 86% of customers resides in the SP state.</a:t>
            </a:r>
          </a:p>
          <a:p>
            <a:pPr marL="342900" indent="-342900">
              <a:buFont typeface="+mj-lt"/>
              <a:buAutoNum type="arabicPeriod"/>
            </a:pPr>
            <a:r>
              <a:rPr lang="en-US" dirty="0"/>
              <a:t>Customer Retention rate is only 1.6% over the six month time period shows the low customer engagement and loyalty.</a:t>
            </a:r>
          </a:p>
          <a:p>
            <a:pPr marL="342900" indent="-342900">
              <a:buFont typeface="+mj-lt"/>
              <a:buAutoNum type="arabicPeriod"/>
            </a:pPr>
            <a:r>
              <a:rPr lang="en-US" dirty="0"/>
              <a:t>More than half of the customer prefer flexible payment option during the online purchase shows the low income and goods purchasing capacity of customers.</a:t>
            </a:r>
          </a:p>
          <a:p>
            <a:pPr marL="342900" indent="-342900">
              <a:buFont typeface="+mj-lt"/>
              <a:buAutoNum type="arabicPeriod"/>
            </a:pPr>
            <a:r>
              <a:rPr lang="en-US" dirty="0"/>
              <a:t>Health and Beauty category is a fastest growing category and contributed 9.1% of total revenue, indicating strong and increasing customer demand within this sector.</a:t>
            </a:r>
          </a:p>
          <a:p>
            <a:pPr marL="342900" indent="-342900">
              <a:buFont typeface="+mj-lt"/>
              <a:buAutoNum type="arabicPeriod"/>
            </a:pPr>
            <a:r>
              <a:rPr lang="en-US" dirty="0"/>
              <a:t>Analysis reveals customers spread across numerous unique cities throughout World, indicating widespread market penetration and diverse geographical reach.</a:t>
            </a:r>
          </a:p>
          <a:p>
            <a:pPr marL="342900" indent="-342900">
              <a:buFont typeface="+mj-lt"/>
              <a:buAutoNum type="arabicPeriod"/>
            </a:pPr>
            <a:endParaRPr lang="en-US" dirty="0"/>
          </a:p>
          <a:p>
            <a:pPr marL="342900" indent="-342900">
              <a:buFont typeface="+mj-lt"/>
              <a:buAutoNum type="arabicPeriod"/>
            </a:pPr>
            <a:endParaRPr lang="en-IN" dirty="0"/>
          </a:p>
        </p:txBody>
      </p:sp>
    </p:spTree>
    <p:extLst>
      <p:ext uri="{BB962C8B-B14F-4D97-AF65-F5344CB8AC3E}">
        <p14:creationId xmlns:p14="http://schemas.microsoft.com/office/powerpoint/2010/main" val="3675646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2A0357-4C55-35B8-4C46-983D510C9C08}"/>
              </a:ext>
            </a:extLst>
          </p:cNvPr>
          <p:cNvSpPr txBox="1"/>
          <p:nvPr/>
        </p:nvSpPr>
        <p:spPr>
          <a:xfrm>
            <a:off x="2438399" y="403161"/>
            <a:ext cx="6531429" cy="1107996"/>
          </a:xfrm>
          <a:prstGeom prst="rect">
            <a:avLst/>
          </a:prstGeom>
          <a:noFill/>
        </p:spPr>
        <p:txBody>
          <a:bodyPr wrap="square">
            <a:spAutoFit/>
          </a:bodyPr>
          <a:lstStyle/>
          <a:p>
            <a:r>
              <a:rPr lang="en-US" sz="6600" dirty="0"/>
              <a:t>Conclusion</a:t>
            </a:r>
            <a:endParaRPr lang="en-IN" sz="6600" dirty="0"/>
          </a:p>
        </p:txBody>
      </p:sp>
      <p:sp>
        <p:nvSpPr>
          <p:cNvPr id="6" name="TextBox 5">
            <a:extLst>
              <a:ext uri="{FF2B5EF4-FFF2-40B4-BE49-F238E27FC236}">
                <a16:creationId xmlns:a16="http://schemas.microsoft.com/office/drawing/2014/main" id="{819890AF-8F20-EA8A-26C8-BF0850ABAEF0}"/>
              </a:ext>
            </a:extLst>
          </p:cNvPr>
          <p:cNvSpPr txBox="1"/>
          <p:nvPr/>
        </p:nvSpPr>
        <p:spPr>
          <a:xfrm>
            <a:off x="783769" y="1790859"/>
            <a:ext cx="10392231" cy="3276282"/>
          </a:xfrm>
          <a:prstGeom prst="rect">
            <a:avLst/>
          </a:prstGeom>
          <a:noFill/>
        </p:spPr>
        <p:txBody>
          <a:bodyPr wrap="square">
            <a:spAutoFit/>
          </a:bodyPr>
          <a:lstStyle/>
          <a:p>
            <a:pPr>
              <a:lnSpc>
                <a:spcPct val="150000"/>
              </a:lnSpc>
            </a:pPr>
            <a:r>
              <a:rPr lang="en-US" sz="2000" dirty="0"/>
              <a:t>Overall, the analysis shows that the online store has steady order demand with no major seasonal changes during the year. Most customers prefer installment payments, which shows the importance of flexible payment options. A large number of customers are from the SP state, but orders are still coming from many different cities, showing that the store has a wide reach. The Health and Beauty category is growing fast and contributing a good share of revenue. However, the customer retention rate is very low, which means the business needs to focus more on keeping customers engaged so they come back and purchase again</a:t>
            </a:r>
            <a:r>
              <a:rPr lang="en-US" dirty="0"/>
              <a:t>. </a:t>
            </a:r>
            <a:endParaRPr lang="en-IN" dirty="0"/>
          </a:p>
        </p:txBody>
      </p:sp>
    </p:spTree>
    <p:extLst>
      <p:ext uri="{BB962C8B-B14F-4D97-AF65-F5344CB8AC3E}">
        <p14:creationId xmlns:p14="http://schemas.microsoft.com/office/powerpoint/2010/main" val="139958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1321</TotalTime>
  <Words>3244</Words>
  <Application>Microsoft Office PowerPoint</Application>
  <PresentationFormat>Widescreen</PresentationFormat>
  <Paragraphs>267</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Algerian</vt:lpstr>
      <vt:lpstr>Arial</vt:lpstr>
      <vt:lpstr>Arial Black</vt:lpstr>
      <vt:lpstr>Bahnschrift SemiBold</vt:lpstr>
      <vt:lpstr>Calibri</vt:lpstr>
      <vt:lpstr>Calibri Light</vt:lpstr>
      <vt:lpstr>Office Theme</vt:lpstr>
      <vt:lpstr>Super Store Sales Report</vt:lpstr>
      <vt:lpstr>Basic Problem</vt:lpstr>
      <vt:lpstr>Intermediate Problem</vt:lpstr>
      <vt:lpstr>Advanced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goyalsaransh61@gmail.com</dc:creator>
  <cp:lastModifiedBy>goyalsaransh61@gmail.com</cp:lastModifiedBy>
  <cp:revision>36</cp:revision>
  <dcterms:created xsi:type="dcterms:W3CDTF">2026-02-26T03:38:21Z</dcterms:created>
  <dcterms:modified xsi:type="dcterms:W3CDTF">2026-03-05T10:50:30Z</dcterms:modified>
</cp:coreProperties>
</file>